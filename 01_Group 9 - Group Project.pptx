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4" name="Google Shape;2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g3180bfe3ec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 name="Google Shape;30;g3180bfe3ec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g3188d47fb4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 name="Google Shape;36;g3188d47fb4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g3188d47fb47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 name="Google Shape;42;g3188d47fb4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3180bfe3ec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g3180bfe3ec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180bfe3ec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3180bfe3ec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180bfe3ec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180bfe3ec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188d47fb47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188d47fb47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chemeClr val="dk1"/>
              </a:buClr>
              <a:buSzPts val="1200"/>
              <a:buAutoNum type="arabicPeriod"/>
            </a:pPr>
            <a:r>
              <a:rPr b="1" lang="en" sz="1200">
                <a:solidFill>
                  <a:schemeClr val="dk1"/>
                </a:solidFill>
              </a:rPr>
              <a:t>Most Important Variable:</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ratio_to_median_purchase_price has the highest worth. This suggests:</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Fraud is closely related to how a </a:t>
            </a:r>
            <a:r>
              <a:rPr lang="en" sz="1200">
                <a:solidFill>
                  <a:schemeClr val="dk1"/>
                </a:solidFill>
              </a:rPr>
              <a:t>transactions</a:t>
            </a:r>
            <a:r>
              <a:rPr lang="en" sz="1200">
                <a:solidFill>
                  <a:schemeClr val="dk1"/>
                </a:solidFill>
              </a:rPr>
              <a:t> amount compares to the median purchase price.</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Transactions significantly deviating from the median are more likely to be fraudulent.</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Moderately Important Variables:</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distance_from_home and online_order have notable worth:</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b="1" lang="en" sz="1200">
                <a:solidFill>
                  <a:schemeClr val="dk1"/>
                </a:solidFill>
              </a:rPr>
              <a:t>distance_from_home:</a:t>
            </a:r>
            <a:r>
              <a:rPr lang="en" sz="1200">
                <a:solidFill>
                  <a:schemeClr val="dk1"/>
                </a:solidFill>
              </a:rPr>
              <a:t> Fraud is more likely when transactions occur far from the cardholder's home.</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b="1" lang="en" sz="1200">
                <a:solidFill>
                  <a:schemeClr val="dk1"/>
                </a:solidFill>
              </a:rPr>
              <a:t>online_order:</a:t>
            </a:r>
            <a:r>
              <a:rPr lang="en" sz="1200">
                <a:solidFill>
                  <a:schemeClr val="dk1"/>
                </a:solidFill>
              </a:rPr>
              <a:t> Online transactions may have a higher fraud risk due to reduced physical verification.</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Less Important Variables:</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Variables like distance_from_last_transaction, used_pin_number, and used_chip contribute less to predicting fraud.</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b="1" lang="en" sz="1200">
                <a:solidFill>
                  <a:schemeClr val="dk1"/>
                </a:solidFill>
              </a:rPr>
              <a:t>used_chip:</a:t>
            </a:r>
            <a:r>
              <a:rPr lang="en" sz="1200">
                <a:solidFill>
                  <a:schemeClr val="dk1"/>
                </a:solidFill>
              </a:rPr>
              <a:t> Transactions with chip usage may indicate secure transactions, reducing their fraud likelihood.</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b="1" lang="en" sz="1200">
                <a:solidFill>
                  <a:schemeClr val="dk1"/>
                </a:solidFill>
              </a:rPr>
              <a:t>repeat_retailer:</a:t>
            </a:r>
            <a:r>
              <a:rPr lang="en" sz="1200">
                <a:solidFill>
                  <a:schemeClr val="dk1"/>
                </a:solidFill>
              </a:rPr>
              <a:t> Repeat transactions at the same retailer have minimal impact on fraud detection.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188d47fb4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188d47fb4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d5fa8264d5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d5fa8264d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Alignment of Red and Blue Lines: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Good Fit:</a:t>
            </a:r>
            <a:r>
              <a:rPr lang="en">
                <a:solidFill>
                  <a:schemeClr val="dk1"/>
                </a:solidFill>
              </a:rPr>
              <a:t> In all three panels (Train, Validate, Test), the blue line (Mean Predicted) closely follows the red line (Mean Target), indicating that the model is accurately predicting the target variable across datasets.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Generalization:</a:t>
            </a:r>
            <a:r>
              <a:rPr lang="en">
                <a:solidFill>
                  <a:schemeClr val="dk1"/>
                </a:solidFill>
              </a:rPr>
              <a:t> The alignment across Validate and Test datasets shows that the model is not overfitting to the training data.</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Linear Relationship:</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near-linear relationship between Model Score and Mean Target indicates that higher model scores are strongly correlated with higher probabilities of the positive class (fraud). This suggests the neural network is effectively distinguishing between fraud and non-fraud cases.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Performance Consistency:</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similarity in the patterns across Train, Validate, and Test datasets suggests the model performs consistently and generalizes well to unseen data.</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180bfe3ec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180bfe3e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d5fa8264d5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d5fa8264d5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This </a:t>
            </a:r>
            <a:r>
              <a:rPr b="1" lang="en" sz="1200">
                <a:solidFill>
                  <a:schemeClr val="dk1"/>
                </a:solidFill>
              </a:rPr>
              <a:t>Fit Statistics table in SAS</a:t>
            </a:r>
            <a:r>
              <a:rPr lang="en" sz="1200">
                <a:solidFill>
                  <a:schemeClr val="dk1"/>
                </a:solidFill>
              </a:rPr>
              <a:t> compares the performance of different models (e.g., Decision Trees and Gradient Boosting) based on various metrics like </a:t>
            </a:r>
            <a:r>
              <a:rPr b="1" lang="en" sz="1200">
                <a:solidFill>
                  <a:schemeClr val="dk1"/>
                </a:solidFill>
              </a:rPr>
              <a:t>misclassification rate</a:t>
            </a:r>
            <a:r>
              <a:rPr lang="en" sz="1200">
                <a:solidFill>
                  <a:schemeClr val="dk1"/>
                </a:solidFill>
              </a:rPr>
              <a:t> and </a:t>
            </a:r>
            <a:r>
              <a:rPr b="1" lang="en" sz="1200">
                <a:solidFill>
                  <a:schemeClr val="dk1"/>
                </a:solidFill>
              </a:rPr>
              <a:t>average squared error</a:t>
            </a:r>
            <a:r>
              <a:rPr lang="en" sz="1200">
                <a:solidFill>
                  <a:schemeClr val="dk1"/>
                </a:solidFill>
              </a:rPr>
              <a:t> for training and validation datasets. </a:t>
            </a:r>
            <a:endParaRPr sz="12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200">
                <a:solidFill>
                  <a:schemeClr val="dk1"/>
                </a:solidFill>
              </a:rPr>
              <a:t>Key Columns in the Output:</a:t>
            </a:r>
            <a:endParaRPr b="1" sz="1200">
              <a:solidFill>
                <a:schemeClr val="dk1"/>
              </a:solidFill>
            </a:endParaRPr>
          </a:p>
          <a:p>
            <a:pPr indent="-304800" lvl="0" marL="457200" rtl="0" algn="l">
              <a:lnSpc>
                <a:spcPct val="115000"/>
              </a:lnSpc>
              <a:spcBef>
                <a:spcPts val="1200"/>
              </a:spcBef>
              <a:spcAft>
                <a:spcPts val="0"/>
              </a:spcAft>
              <a:buClr>
                <a:schemeClr val="dk1"/>
              </a:buClr>
              <a:buSzPts val="1200"/>
              <a:buAutoNum type="arabicPeriod"/>
            </a:pPr>
            <a:r>
              <a:rPr b="1" lang="en" sz="1200">
                <a:solidFill>
                  <a:schemeClr val="dk1"/>
                </a:solidFill>
              </a:rPr>
              <a:t>Model Description:</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Specifies the models being compared:</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b="1" lang="en" sz="1200">
                <a:solidFill>
                  <a:schemeClr val="dk1"/>
                </a:solidFill>
              </a:rPr>
              <a:t>HP Forest Boost:</a:t>
            </a:r>
            <a:r>
              <a:rPr lang="en" sz="1200">
                <a:solidFill>
                  <a:schemeClr val="dk1"/>
                </a:solidFill>
              </a:rPr>
              <a:t> A high-performance Gradient Boosting model.</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b="1" lang="en" sz="1200">
                <a:solidFill>
                  <a:schemeClr val="dk1"/>
                </a:solidFill>
              </a:rPr>
              <a:t>Tree:</a:t>
            </a:r>
            <a:r>
              <a:rPr lang="en" sz="1200">
                <a:solidFill>
                  <a:schemeClr val="dk1"/>
                </a:solidFill>
              </a:rPr>
              <a:t> Decision Tree with 4 branches and depth 12.</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b="1" lang="en" sz="1200">
                <a:solidFill>
                  <a:schemeClr val="dk1"/>
                </a:solidFill>
              </a:rPr>
              <a:t>Tree2:</a:t>
            </a:r>
            <a:r>
              <a:rPr lang="en" sz="1200">
                <a:solidFill>
                  <a:schemeClr val="dk1"/>
                </a:solidFill>
              </a:rPr>
              <a:t> Decision Tree with 2 branches and depth 6.</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Valid: Misclassification Rate:</a:t>
            </a:r>
            <a:br>
              <a:rPr b="1" lang="en" sz="1200">
                <a:solidFill>
                  <a:schemeClr val="dk1"/>
                </a:solidFill>
              </a:rPr>
            </a:b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The proportion of incorrect predictions on the validation dataset.</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A </a:t>
            </a:r>
            <a:r>
              <a:rPr b="1" lang="en" sz="1200">
                <a:solidFill>
                  <a:schemeClr val="dk1"/>
                </a:solidFill>
              </a:rPr>
              <a:t>lower value</a:t>
            </a:r>
            <a:r>
              <a:rPr lang="en" sz="1200">
                <a:solidFill>
                  <a:schemeClr val="dk1"/>
                </a:solidFill>
              </a:rPr>
              <a:t> indicates better performance.</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For instance:</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Tree: 0.00008 (8 in 100,000 predictions are wrong).</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Tree2: 0.000086666.</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HP Forest Boost: Not calculated for validation here (.), but it's likely comparable to the training rate.</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Train: Misclassification Rate:</a:t>
            </a:r>
            <a:br>
              <a:rPr b="1" lang="en" sz="1200">
                <a:solidFill>
                  <a:schemeClr val="dk1"/>
                </a:solidFill>
              </a:rPr>
            </a:b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The proportion of incorrect predictions on the training dataset.</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For example:</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Tree: 0.000085714.</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Tree2: 0.00002857.</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HP Forest Boost: 0.000009000.</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Train: Average Squared Error (ASE):</a:t>
            </a:r>
            <a:br>
              <a:rPr b="1" lang="en" sz="1200">
                <a:solidFill>
                  <a:schemeClr val="dk1"/>
                </a:solidFill>
              </a:rPr>
            </a:b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Measures the squared difference between predicted and actual values for the training data.</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Lower ASE indicates better model fit.</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For example:</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Tree: 0.000067.</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Tree2: 0.000075.</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HP Forest Boost: 0.000040.</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Valid: Average Squared Error (ASE):</a:t>
            </a:r>
            <a:br>
              <a:rPr b="1" lang="en" sz="1200">
                <a:solidFill>
                  <a:schemeClr val="dk1"/>
                </a:solidFill>
              </a:rPr>
            </a:b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Same as the train ASE but computed on the validation dataset.</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Lower values here indicate better generalization to unseen data.</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For example:</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Tree: 0.000074988.</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Tree2: 0.000080527.</a:t>
            </a:r>
            <a:endParaRPr sz="12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200">
                <a:solidFill>
                  <a:schemeClr val="dk1"/>
                </a:solidFill>
              </a:rPr>
              <a:t>Insights from the Table:</a:t>
            </a:r>
            <a:endParaRPr b="1" sz="1200">
              <a:solidFill>
                <a:schemeClr val="dk1"/>
              </a:solidFill>
            </a:endParaRPr>
          </a:p>
          <a:p>
            <a:pPr indent="-304800" lvl="0" marL="457200" rtl="0" algn="l">
              <a:lnSpc>
                <a:spcPct val="115000"/>
              </a:lnSpc>
              <a:spcBef>
                <a:spcPts val="1200"/>
              </a:spcBef>
              <a:spcAft>
                <a:spcPts val="0"/>
              </a:spcAft>
              <a:buClr>
                <a:schemeClr val="dk1"/>
              </a:buClr>
              <a:buSzPts val="1200"/>
              <a:buAutoNum type="arabicPeriod"/>
            </a:pPr>
            <a:r>
              <a:rPr b="1" lang="en" sz="1200">
                <a:solidFill>
                  <a:schemeClr val="dk1"/>
                </a:solidFill>
              </a:rPr>
              <a:t>Best Model Selection:</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The </a:t>
            </a:r>
            <a:r>
              <a:rPr b="1" lang="en" sz="1200">
                <a:solidFill>
                  <a:schemeClr val="dk1"/>
                </a:solidFill>
              </a:rPr>
              <a:t>Tree model (4 Branch, 12 Deep)</a:t>
            </a:r>
            <a:r>
              <a:rPr lang="en" sz="1200">
                <a:solidFill>
                  <a:schemeClr val="dk1"/>
                </a:solidFill>
              </a:rPr>
              <a:t> has the lowest validation misclassification rate (0.00008) and average squared error (0.000074988), making it the best-performing model for normalization.</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Although </a:t>
            </a:r>
            <a:r>
              <a:rPr b="1" lang="en" sz="1200">
                <a:solidFill>
                  <a:schemeClr val="dk1"/>
                </a:solidFill>
              </a:rPr>
              <a:t>HP Forest Boost</a:t>
            </a:r>
            <a:r>
              <a:rPr lang="en" sz="1200">
                <a:solidFill>
                  <a:schemeClr val="dk1"/>
                </a:solidFill>
              </a:rPr>
              <a:t> has the lowest training misclassification rate (0.000009000), its validation performance is not reported here, making it hard to evaluate its generalization ability.</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Complexity and Generalization:</a:t>
            </a:r>
            <a:br>
              <a:rPr b="1" lang="en" sz="1200">
                <a:solidFill>
                  <a:schemeClr val="dk1"/>
                </a:solidFill>
              </a:rPr>
            </a:b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b="1" lang="en" sz="1200">
                <a:solidFill>
                  <a:schemeClr val="dk1"/>
                </a:solidFill>
              </a:rPr>
              <a:t>Tree2 (2 Branch, 6 Deep):</a:t>
            </a:r>
            <a:endParaRPr b="1"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Simpler model with fewer branches and depth.</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Slightly worse validation performance but may be preferred for interpretability or when computational resources are limited.</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b="1" lang="en" sz="1200">
                <a:solidFill>
                  <a:schemeClr val="dk1"/>
                </a:solidFill>
              </a:rPr>
              <a:t>Tree (4 Branch, 12 Deep):</a:t>
            </a:r>
            <a:endParaRPr b="1"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More complex and performs better on the validation set.</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Overfitting Risk:</a:t>
            </a:r>
            <a:br>
              <a:rPr b="1" lang="en" sz="1200">
                <a:solidFill>
                  <a:schemeClr val="dk1"/>
                </a:solidFill>
              </a:rPr>
            </a:b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The </a:t>
            </a:r>
            <a:r>
              <a:rPr b="1" lang="en" sz="1200">
                <a:solidFill>
                  <a:schemeClr val="dk1"/>
                </a:solidFill>
              </a:rPr>
              <a:t>Tree model (4 Branch, 12 Deep)</a:t>
            </a:r>
            <a:r>
              <a:rPr lang="en" sz="1200">
                <a:solidFill>
                  <a:schemeClr val="dk1"/>
                </a:solidFill>
              </a:rPr>
              <a:t> shows a small gap between training and validation misclassification rates, indicating minimal overfitting.</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b="1" lang="en" sz="1200">
                <a:solidFill>
                  <a:schemeClr val="dk1"/>
                </a:solidFill>
              </a:rPr>
              <a:t>HP Forest Boost</a:t>
            </a:r>
            <a:r>
              <a:rPr lang="en" sz="1200">
                <a:solidFill>
                  <a:schemeClr val="dk1"/>
                </a:solidFill>
              </a:rPr>
              <a:t> may require validation performance metrics to confirm it is not overfitting, as its training misclassification rate is very low.</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200">
                <a:solidFill>
                  <a:schemeClr val="dk1"/>
                </a:solidFill>
              </a:rPr>
              <a:t>What This Output Means:</a:t>
            </a:r>
            <a:endParaRPr b="1" sz="1200">
              <a:solidFill>
                <a:schemeClr val="dk1"/>
              </a:solidFill>
            </a:endParaRPr>
          </a:p>
          <a:p>
            <a:pPr indent="-304800" lvl="0" marL="457200" rtl="0" algn="l">
              <a:lnSpc>
                <a:spcPct val="115000"/>
              </a:lnSpc>
              <a:spcBef>
                <a:spcPts val="1200"/>
              </a:spcBef>
              <a:spcAft>
                <a:spcPts val="0"/>
              </a:spcAft>
              <a:buClr>
                <a:schemeClr val="dk1"/>
              </a:buClr>
              <a:buSzPts val="1200"/>
              <a:buAutoNum type="arabicPeriod"/>
            </a:pPr>
            <a:r>
              <a:rPr b="1" lang="en" sz="1200">
                <a:solidFill>
                  <a:schemeClr val="dk1"/>
                </a:solidFill>
              </a:rPr>
              <a:t>Performance Comparison:</a:t>
            </a:r>
            <a:br>
              <a:rPr b="1" lang="en" sz="1200">
                <a:solidFill>
                  <a:schemeClr val="dk1"/>
                </a:solidFill>
              </a:rPr>
            </a:b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The decision tree models (Tree and Tree2) are being compared against a high-performance Gradient Boosting model (HP Forest Boost).</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While Gradient Boosting models are typically more accurate, the specific validation metrics are missing here for HP Forest Boost.</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Recommendation:</a:t>
            </a:r>
            <a:br>
              <a:rPr b="1" lang="en" sz="1200">
                <a:solidFill>
                  <a:schemeClr val="dk1"/>
                </a:solidFill>
              </a:rPr>
            </a:b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If you prioritize accuracy and the validation misclassification rate, select the </a:t>
            </a:r>
            <a:r>
              <a:rPr b="1" lang="en" sz="1200">
                <a:solidFill>
                  <a:schemeClr val="dk1"/>
                </a:solidFill>
              </a:rPr>
              <a:t>Tree model (4 Branch, 12 Deep)</a:t>
            </a:r>
            <a:r>
              <a:rPr lang="en" sz="1200">
                <a:solidFill>
                  <a:schemeClr val="dk1"/>
                </a:solidFill>
              </a:rPr>
              <a:t>.</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If interpretability and simplicity are more important, go with </a:t>
            </a:r>
            <a:r>
              <a:rPr b="1" lang="en" sz="1200">
                <a:solidFill>
                  <a:schemeClr val="dk1"/>
                </a:solidFill>
              </a:rPr>
              <a:t>Tree2 (2 Branch, 6 Deep)</a:t>
            </a:r>
            <a:r>
              <a:rPr lang="en" sz="1200">
                <a:solidFill>
                  <a:schemeClr val="dk1"/>
                </a:solidFill>
              </a:rPr>
              <a:t>.</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If validation metrics for HP Forest Boost are available, compare them to the trees, as it might outperform them in unseen data.</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Next Steps:</a:t>
            </a:r>
            <a:br>
              <a:rPr b="1" lang="en" sz="1200">
                <a:solidFill>
                  <a:schemeClr val="dk1"/>
                </a:solidFill>
              </a:rPr>
            </a:b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Confirm validation performance for HP Forest Boost if available.</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Deploy the best model (Tree) if the goal is balanced accuracy and interpretability.</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HP Forest</a:t>
            </a:r>
            <a:r>
              <a:rPr lang="en">
                <a:solidFill>
                  <a:schemeClr val="dk1"/>
                </a:solidFill>
              </a:rPr>
              <a:t> and </a:t>
            </a:r>
            <a:r>
              <a:rPr b="1" lang="en">
                <a:solidFill>
                  <a:schemeClr val="dk1"/>
                </a:solidFill>
              </a:rPr>
              <a:t>Gradient Boosting</a:t>
            </a:r>
            <a:r>
              <a:rPr lang="en">
                <a:solidFill>
                  <a:schemeClr val="dk1"/>
                </a:solidFill>
              </a:rPr>
              <a:t> are not the same in SAS, although both are ensemble learning methods. Here's a breakdown of the differences: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Gradient Boosting</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Gradient Boosting</a:t>
            </a:r>
            <a:r>
              <a:rPr lang="en">
                <a:solidFill>
                  <a:schemeClr val="dk1"/>
                </a:solidFill>
              </a:rPr>
              <a:t> is an ensemble technique that builds models sequentially, each new model correcting the errors made by the previous ones. It minimizes the residual errors by fitting weak learners (typically decision trees) to the residuals. It works by optimizing the loss function using gradient descent.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In SAS, </a:t>
            </a:r>
            <a:r>
              <a:rPr b="1" lang="en">
                <a:solidFill>
                  <a:schemeClr val="dk1"/>
                </a:solidFill>
              </a:rPr>
              <a:t>Gradient Boosting</a:t>
            </a:r>
            <a:r>
              <a:rPr lang="en">
                <a:solidFill>
                  <a:schemeClr val="dk1"/>
                </a:solidFill>
              </a:rPr>
              <a:t> is implemented through procedures like </a:t>
            </a:r>
            <a:r>
              <a:rPr b="1" lang="en">
                <a:solidFill>
                  <a:schemeClr val="dk1"/>
                </a:solidFill>
              </a:rPr>
              <a:t>HPFOREST</a:t>
            </a:r>
            <a:r>
              <a:rPr lang="en">
                <a:solidFill>
                  <a:schemeClr val="dk1"/>
                </a:solidFill>
              </a:rPr>
              <a:t> (for large data) or </a:t>
            </a:r>
            <a:r>
              <a:rPr b="1" lang="en">
                <a:solidFill>
                  <a:schemeClr val="dk1"/>
                </a:solidFill>
              </a:rPr>
              <a:t>BOOST</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HP Forest</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HP Forest</a:t>
            </a:r>
            <a:r>
              <a:rPr lang="en">
                <a:solidFill>
                  <a:schemeClr val="dk1"/>
                </a:solidFill>
              </a:rPr>
              <a:t> is an optimized version of a </a:t>
            </a:r>
            <a:r>
              <a:rPr b="1" lang="en">
                <a:solidFill>
                  <a:schemeClr val="dk1"/>
                </a:solidFill>
              </a:rPr>
              <a:t>Random Forest</a:t>
            </a:r>
            <a:r>
              <a:rPr lang="en">
                <a:solidFill>
                  <a:schemeClr val="dk1"/>
                </a:solidFill>
              </a:rPr>
              <a:t> model available in SAS, specifically designed for high-performance environments and large datasets. It uses </a:t>
            </a:r>
            <a:r>
              <a:rPr b="1" lang="en">
                <a:solidFill>
                  <a:schemeClr val="dk1"/>
                </a:solidFill>
              </a:rPr>
              <a:t>bagging</a:t>
            </a:r>
            <a:r>
              <a:rPr lang="en">
                <a:solidFill>
                  <a:schemeClr val="dk1"/>
                </a:solidFill>
              </a:rPr>
              <a:t> (Bootstrap Aggregating) to build multiple decision trees on random samples of the data, and then aggregates the predictions.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Unlike Gradient Boosting, </a:t>
            </a:r>
            <a:r>
              <a:rPr b="1" lang="en">
                <a:solidFill>
                  <a:schemeClr val="dk1"/>
                </a:solidFill>
              </a:rPr>
              <a:t>HP Forest</a:t>
            </a:r>
            <a:r>
              <a:rPr lang="en">
                <a:solidFill>
                  <a:schemeClr val="dk1"/>
                </a:solidFill>
              </a:rPr>
              <a:t> does not focus on correcting errors iteratively; rather, it builds several trees independently and combines their results.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Key Differences: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HP Forest</a:t>
            </a:r>
            <a:r>
              <a:rPr lang="en">
                <a:solidFill>
                  <a:schemeClr val="dk1"/>
                </a:solidFill>
              </a:rPr>
              <a:t> (Random Forest) uses </a:t>
            </a:r>
            <a:r>
              <a:rPr b="1" lang="en">
                <a:solidFill>
                  <a:schemeClr val="dk1"/>
                </a:solidFill>
              </a:rPr>
              <a:t>bagging</a:t>
            </a:r>
            <a:r>
              <a:rPr lang="en">
                <a:solidFill>
                  <a:schemeClr val="dk1"/>
                </a:solidFill>
              </a:rPr>
              <a:t>, while </a:t>
            </a:r>
            <a:r>
              <a:rPr b="1" lang="en">
                <a:solidFill>
                  <a:schemeClr val="dk1"/>
                </a:solidFill>
              </a:rPr>
              <a:t>Gradient Boosting</a:t>
            </a:r>
            <a:r>
              <a:rPr lang="en">
                <a:solidFill>
                  <a:schemeClr val="dk1"/>
                </a:solidFill>
              </a:rPr>
              <a:t> uses </a:t>
            </a:r>
            <a:r>
              <a:rPr b="1" lang="en">
                <a:solidFill>
                  <a:schemeClr val="dk1"/>
                </a:solidFill>
              </a:rPr>
              <a:t>boosting</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Gradient Boosting</a:t>
            </a:r>
            <a:r>
              <a:rPr lang="en">
                <a:solidFill>
                  <a:schemeClr val="dk1"/>
                </a:solidFill>
              </a:rPr>
              <a:t> focuses on sequentially reducing errors, while </a:t>
            </a:r>
            <a:r>
              <a:rPr b="1" lang="en">
                <a:solidFill>
                  <a:schemeClr val="dk1"/>
                </a:solidFill>
              </a:rPr>
              <a:t>HP Forest</a:t>
            </a:r>
            <a:r>
              <a:rPr lang="en">
                <a:solidFill>
                  <a:schemeClr val="dk1"/>
                </a:solidFill>
              </a:rPr>
              <a:t> builds trees independently.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HP Forest</a:t>
            </a:r>
            <a:r>
              <a:rPr lang="en">
                <a:solidFill>
                  <a:schemeClr val="dk1"/>
                </a:solidFill>
              </a:rPr>
              <a:t> is optimized for high-performance computing with large datasets, while </a:t>
            </a:r>
            <a:r>
              <a:rPr b="1" lang="en">
                <a:solidFill>
                  <a:schemeClr val="dk1"/>
                </a:solidFill>
              </a:rPr>
              <a:t>Gradient Boosting</a:t>
            </a:r>
            <a:r>
              <a:rPr lang="en">
                <a:solidFill>
                  <a:schemeClr val="dk1"/>
                </a:solidFill>
              </a:rPr>
              <a:t> can be slower due to its iterative nature.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summary, </a:t>
            </a:r>
            <a:r>
              <a:rPr b="1" lang="en">
                <a:solidFill>
                  <a:schemeClr val="dk1"/>
                </a:solidFill>
              </a:rPr>
              <a:t>Gradient Boosting</a:t>
            </a:r>
            <a:r>
              <a:rPr lang="en">
                <a:solidFill>
                  <a:schemeClr val="dk1"/>
                </a:solidFill>
              </a:rPr>
              <a:t> and </a:t>
            </a:r>
            <a:r>
              <a:rPr b="1" lang="en">
                <a:solidFill>
                  <a:schemeClr val="dk1"/>
                </a:solidFill>
              </a:rPr>
              <a:t>HP Forest</a:t>
            </a:r>
            <a:r>
              <a:rPr lang="en">
                <a:solidFill>
                  <a:schemeClr val="dk1"/>
                </a:solidFill>
              </a:rPr>
              <a:t> (Random Forest) are both ensemble methods, but they differ in their approach to model building and error correction.</a:t>
            </a:r>
            <a:endParaRPr>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1a8d491e83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1a8d491e83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sz="12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1a8d491e83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1a8d491e83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This </a:t>
            </a:r>
            <a:r>
              <a:rPr b="1" lang="en" sz="1200">
                <a:solidFill>
                  <a:schemeClr val="dk1"/>
                </a:solidFill>
              </a:rPr>
              <a:t>Logistic Regression output in SAS</a:t>
            </a:r>
            <a:r>
              <a:rPr lang="en" sz="1200">
                <a:solidFill>
                  <a:schemeClr val="dk1"/>
                </a:solidFill>
              </a:rPr>
              <a:t> provides insights into the performance of a logistic regression model trained to predict fraud (Fraud vs No-Fraud).</a:t>
            </a:r>
            <a:endParaRPr sz="12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200">
                <a:solidFill>
                  <a:schemeClr val="dk1"/>
                </a:solidFill>
              </a:rPr>
              <a:t>Key Elements in the Graph:</a:t>
            </a:r>
            <a:endParaRPr b="1" sz="1200">
              <a:solidFill>
                <a:schemeClr val="dk1"/>
              </a:solidFill>
            </a:endParaRPr>
          </a:p>
          <a:p>
            <a:pPr indent="-304800" lvl="0" marL="457200" rtl="0" algn="l">
              <a:lnSpc>
                <a:spcPct val="115000"/>
              </a:lnSpc>
              <a:spcBef>
                <a:spcPts val="1200"/>
              </a:spcBef>
              <a:spcAft>
                <a:spcPts val="0"/>
              </a:spcAft>
              <a:buClr>
                <a:schemeClr val="dk1"/>
              </a:buClr>
              <a:buSzPts val="1200"/>
              <a:buAutoNum type="arabicPeriod"/>
            </a:pPr>
            <a:r>
              <a:rPr b="1" lang="en" sz="1200">
                <a:solidFill>
                  <a:schemeClr val="dk1"/>
                </a:solidFill>
              </a:rPr>
              <a:t>Model Description:</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Describes the model as a </a:t>
            </a:r>
            <a:r>
              <a:rPr b="1" lang="en" sz="1200">
                <a:solidFill>
                  <a:schemeClr val="dk1"/>
                </a:solidFill>
              </a:rPr>
              <a:t>Logistic Regression (LR)</a:t>
            </a:r>
            <a:r>
              <a:rPr lang="en" sz="1200">
                <a:solidFill>
                  <a:schemeClr val="dk1"/>
                </a:solidFill>
              </a:rPr>
              <a:t> with stepwise selection (indicating variables were added/removed to optimize the model).</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Data Role = TRAIN:</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The graph shows the model's performance on the </a:t>
            </a:r>
            <a:r>
              <a:rPr b="1" lang="en" sz="1200">
                <a:solidFill>
                  <a:schemeClr val="dk1"/>
                </a:solidFill>
              </a:rPr>
              <a:t>training dataset</a:t>
            </a:r>
            <a:r>
              <a:rPr lang="en" sz="1200">
                <a:solidFill>
                  <a:schemeClr val="dk1"/>
                </a:solidFill>
              </a:rPr>
              <a:t>.</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X-Axis: Model Score:</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Represents the predicted scores from the logistic regression model. These scores are often probabilities that indicate the likelihood of a transaction being classified as fraud.</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Y-Axis:</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Represents the values of:</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b="1" lang="en" sz="1200">
                <a:solidFill>
                  <a:schemeClr val="dk1"/>
                </a:solidFill>
              </a:rPr>
              <a:t>Mean Predicted (Blue Line):</a:t>
            </a:r>
            <a:r>
              <a:rPr lang="en" sz="1200">
                <a:solidFill>
                  <a:schemeClr val="dk1"/>
                </a:solidFill>
              </a:rPr>
              <a:t> The average predicted value from the logistic regression model for each score range.</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b="1" lang="en" sz="1200">
                <a:solidFill>
                  <a:schemeClr val="dk1"/>
                </a:solidFill>
              </a:rPr>
              <a:t>Mean Target (Red Line):</a:t>
            </a:r>
            <a:r>
              <a:rPr lang="en" sz="1200">
                <a:solidFill>
                  <a:schemeClr val="dk1"/>
                </a:solidFill>
              </a:rPr>
              <a:t> The actual average target value (proportion of fraud cases) for the same score range.</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200">
                <a:solidFill>
                  <a:schemeClr val="dk1"/>
                </a:solidFill>
              </a:rPr>
              <a:t>Insights from the Graph:</a:t>
            </a:r>
            <a:endParaRPr b="1" sz="1200">
              <a:solidFill>
                <a:schemeClr val="dk1"/>
              </a:solidFill>
            </a:endParaRPr>
          </a:p>
          <a:p>
            <a:pPr indent="-304800" lvl="0" marL="457200" rtl="0" algn="l">
              <a:lnSpc>
                <a:spcPct val="115000"/>
              </a:lnSpc>
              <a:spcBef>
                <a:spcPts val="1200"/>
              </a:spcBef>
              <a:spcAft>
                <a:spcPts val="0"/>
              </a:spcAft>
              <a:buClr>
                <a:schemeClr val="dk1"/>
              </a:buClr>
              <a:buSzPts val="1200"/>
              <a:buAutoNum type="arabicPeriod"/>
            </a:pPr>
            <a:r>
              <a:rPr b="1" lang="en" sz="1200">
                <a:solidFill>
                  <a:schemeClr val="dk1"/>
                </a:solidFill>
              </a:rPr>
              <a:t>Disparity Between Predicted and Target Values:</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The </a:t>
            </a:r>
            <a:r>
              <a:rPr b="1" lang="en" sz="1200">
                <a:solidFill>
                  <a:schemeClr val="dk1"/>
                </a:solidFill>
              </a:rPr>
              <a:t>blue line</a:t>
            </a:r>
            <a:r>
              <a:rPr lang="en" sz="1200">
                <a:solidFill>
                  <a:schemeClr val="dk1"/>
                </a:solidFill>
              </a:rPr>
              <a:t> (Mean Predicted) shows the logistic regression model's predictions increase steadily with higher model scores.</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The </a:t>
            </a:r>
            <a:r>
              <a:rPr b="1" lang="en" sz="1200">
                <a:solidFill>
                  <a:schemeClr val="dk1"/>
                </a:solidFill>
              </a:rPr>
              <a:t>red line</a:t>
            </a:r>
            <a:r>
              <a:rPr lang="en" sz="1200">
                <a:solidFill>
                  <a:schemeClr val="dk1"/>
                </a:solidFill>
              </a:rPr>
              <a:t> (Mean Target) does not align closely with the blue line, indicating that the model may not perfectly capture the relationship between features and the target variable.</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Model Fit on Training Data:</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The red line remains relatively flat, suggesting that the proportion of fraud cases does not increase as sharply as the model predicts for higher scores.</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This could indicate some </a:t>
            </a:r>
            <a:r>
              <a:rPr b="1" lang="en" sz="1200">
                <a:solidFill>
                  <a:schemeClr val="dk1"/>
                </a:solidFill>
              </a:rPr>
              <a:t>bias</a:t>
            </a:r>
            <a:r>
              <a:rPr lang="en" sz="1200">
                <a:solidFill>
                  <a:schemeClr val="dk1"/>
                </a:solidFill>
              </a:rPr>
              <a:t> in the model, where it overestimates fraud likelihood for higher scores.</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Potential Issues:</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The gap between the blue and red lines suggests a misalignment between the predicted probabilities and the actual observed fraud rates.</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This could mean:</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The model might be overfitting the training data.</a:t>
            </a:r>
            <a:endParaRPr sz="1200">
              <a:solidFill>
                <a:schemeClr val="dk1"/>
              </a:solidFill>
            </a:endParaRPr>
          </a:p>
          <a:p>
            <a:pPr indent="-304800" lvl="2" marL="1371600" rtl="0" algn="l">
              <a:lnSpc>
                <a:spcPct val="115000"/>
              </a:lnSpc>
              <a:spcBef>
                <a:spcPts val="0"/>
              </a:spcBef>
              <a:spcAft>
                <a:spcPts val="0"/>
              </a:spcAft>
              <a:buClr>
                <a:schemeClr val="dk1"/>
              </a:buClr>
              <a:buSzPts val="1200"/>
              <a:buChar char="■"/>
            </a:pPr>
            <a:r>
              <a:rPr lang="en" sz="1200">
                <a:solidFill>
                  <a:schemeClr val="dk1"/>
                </a:solidFill>
              </a:rPr>
              <a:t>The logistic regression assumptions may not fully capture the data's complexity.</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200">
                <a:solidFill>
                  <a:schemeClr val="dk1"/>
                </a:solidFill>
              </a:rPr>
              <a:t>What This Output Means:</a:t>
            </a:r>
            <a:endParaRPr b="1" sz="1200">
              <a:solidFill>
                <a:schemeClr val="dk1"/>
              </a:solidFill>
            </a:endParaRPr>
          </a:p>
          <a:p>
            <a:pPr indent="-304800" lvl="0" marL="457200" rtl="0" algn="l">
              <a:lnSpc>
                <a:spcPct val="115000"/>
              </a:lnSpc>
              <a:spcBef>
                <a:spcPts val="1200"/>
              </a:spcBef>
              <a:spcAft>
                <a:spcPts val="0"/>
              </a:spcAft>
              <a:buClr>
                <a:schemeClr val="dk1"/>
              </a:buClr>
              <a:buSzPts val="1200"/>
              <a:buAutoNum type="arabicPeriod"/>
            </a:pPr>
            <a:r>
              <a:rPr b="1" lang="en" sz="1200">
                <a:solidFill>
                  <a:schemeClr val="dk1"/>
                </a:solidFill>
              </a:rPr>
              <a:t>Model Prediction Behavior:</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The model predicts increasing likelihood of fraud (blue line) as the model score rises, which is expected in logistic regression.</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Fit Assessment:</a:t>
            </a:r>
            <a:endParaRPr b="1"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The mismatch between predicted values and actual target values (red line) indicates that the model’s predictions may not fully represent the observed data distribution.</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Train: Average Squared Error (ASE):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Measures the mean squared error of the model's predictions on the training dataset.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 </a:t>
            </a:r>
            <a:r>
              <a:rPr b="1" lang="en">
                <a:solidFill>
                  <a:schemeClr val="dk1"/>
                </a:solidFill>
              </a:rPr>
              <a:t>lower ASE</a:t>
            </a:r>
            <a:r>
              <a:rPr lang="en">
                <a:solidFill>
                  <a:schemeClr val="dk1"/>
                </a:solidFill>
              </a:rPr>
              <a:t> indicates better model performance in terms of how closely predictions match actual values.</a:t>
            </a:r>
            <a:endParaRPr>
              <a:solidFill>
                <a:schemeClr val="dk1"/>
              </a:solidFill>
            </a:endParaRPr>
          </a:p>
          <a:p>
            <a:pPr indent="0" lvl="0" marL="0" rtl="0" algn="l">
              <a:lnSpc>
                <a:spcPct val="115000"/>
              </a:lnSpc>
              <a:spcBef>
                <a:spcPts val="1200"/>
              </a:spcBef>
              <a:spcAft>
                <a:spcPts val="1200"/>
              </a:spcAft>
              <a:buNone/>
            </a:pPr>
            <a:r>
              <a:t/>
            </a:r>
            <a:endParaRPr sz="12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180bfe3ec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180bfe3ec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180bfe3ec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180bfe3ec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180bfe3ec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180bfe3ec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a:blip r:embed="rId2">
            <a:alphaModFix/>
          </a:blip>
          <a:stretch>
            <a:fillRect/>
          </a:stretch>
        </a:blip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611187" y="3706415"/>
            <a:ext cx="6048300" cy="8322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0" name="Google Shape;10;p2"/>
          <p:cNvSpPr txBox="1"/>
          <p:nvPr>
            <p:ph idx="1" type="subTitle"/>
          </p:nvPr>
        </p:nvSpPr>
        <p:spPr>
          <a:xfrm>
            <a:off x="611187" y="4408884"/>
            <a:ext cx="6048300" cy="522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360"/>
              </a:spcBef>
              <a:spcAft>
                <a:spcPts val="0"/>
              </a:spcAft>
              <a:buClr>
                <a:schemeClr val="dk1"/>
              </a:buClr>
              <a:buSzPts val="1800"/>
              <a:buChar char="•"/>
              <a:defRPr/>
            </a:lvl1pPr>
            <a:lvl2pPr lvl="1" algn="l">
              <a:lnSpc>
                <a:spcPct val="100000"/>
              </a:lnSpc>
              <a:spcBef>
                <a:spcPts val="360"/>
              </a:spcBef>
              <a:spcAft>
                <a:spcPts val="0"/>
              </a:spcAft>
              <a:buClr>
                <a:schemeClr val="dk1"/>
              </a:buClr>
              <a:buSzPts val="1800"/>
              <a:buChar char="–"/>
              <a:defRPr/>
            </a:lvl2pPr>
            <a:lvl3pPr lvl="2" algn="l">
              <a:lnSpc>
                <a:spcPct val="100000"/>
              </a:lnSpc>
              <a:spcBef>
                <a:spcPts val="360"/>
              </a:spcBef>
              <a:spcAft>
                <a:spcPts val="0"/>
              </a:spcAft>
              <a:buClr>
                <a:schemeClr val="dk1"/>
              </a:buClr>
              <a:buSzPts val="1800"/>
              <a:buChar char="•"/>
              <a:defRPr/>
            </a:lvl3pPr>
            <a:lvl4pPr lvl="3" algn="l">
              <a:lnSpc>
                <a:spcPct val="100000"/>
              </a:lnSpc>
              <a:spcBef>
                <a:spcPts val="360"/>
              </a:spcBef>
              <a:spcAft>
                <a:spcPts val="0"/>
              </a:spcAft>
              <a:buClr>
                <a:schemeClr val="dk1"/>
              </a:buClr>
              <a:buSzPts val="1800"/>
              <a:buChar char="–"/>
              <a:defRPr/>
            </a:lvl4pPr>
            <a:lvl5pPr lvl="4" algn="l">
              <a:lnSpc>
                <a:spcPct val="100000"/>
              </a:lnSpc>
              <a:spcBef>
                <a:spcPts val="360"/>
              </a:spcBef>
              <a:spcAft>
                <a:spcPts val="0"/>
              </a:spcAft>
              <a:buClr>
                <a:schemeClr val="dk1"/>
              </a:buClr>
              <a:buSzPts val="1800"/>
              <a:buChar char="»"/>
              <a:defRPr/>
            </a:lvl5pPr>
            <a:lvl6pPr lvl="5" algn="l">
              <a:lnSpc>
                <a:spcPct val="100000"/>
              </a:lnSpc>
              <a:spcBef>
                <a:spcPts val="360"/>
              </a:spcBef>
              <a:spcAft>
                <a:spcPts val="0"/>
              </a:spcAft>
              <a:buClr>
                <a:schemeClr val="dk1"/>
              </a:buClr>
              <a:buSzPts val="1800"/>
              <a:buChar char="»"/>
              <a:defRPr/>
            </a:lvl6pPr>
            <a:lvl7pPr lvl="6" algn="l">
              <a:lnSpc>
                <a:spcPct val="100000"/>
              </a:lnSpc>
              <a:spcBef>
                <a:spcPts val="360"/>
              </a:spcBef>
              <a:spcAft>
                <a:spcPts val="0"/>
              </a:spcAft>
              <a:buClr>
                <a:schemeClr val="dk1"/>
              </a:buClr>
              <a:buSzPts val="1800"/>
              <a:buChar char="»"/>
              <a:defRPr/>
            </a:lvl7pPr>
            <a:lvl8pPr lvl="7" algn="l">
              <a:lnSpc>
                <a:spcPct val="100000"/>
              </a:lnSpc>
              <a:spcBef>
                <a:spcPts val="360"/>
              </a:spcBef>
              <a:spcAft>
                <a:spcPts val="0"/>
              </a:spcAft>
              <a:buClr>
                <a:schemeClr val="dk1"/>
              </a:buClr>
              <a:buSzPts val="1800"/>
              <a:buChar char="»"/>
              <a:defRPr/>
            </a:lvl8pPr>
            <a:lvl9pPr lvl="8"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11" name="Shape 11"/>
        <p:cNvGrpSpPr/>
        <p:nvPr/>
      </p:nvGrpSpPr>
      <p:grpSpPr>
        <a:xfrm>
          <a:off x="0" y="0"/>
          <a:ext cx="0" cy="0"/>
          <a:chOff x="0" y="0"/>
          <a:chExt cx="0" cy="0"/>
        </a:xfrm>
      </p:grpSpPr>
      <p:sp>
        <p:nvSpPr>
          <p:cNvPr id="12" name="Google Shape;12;p3"/>
          <p:cNvSpPr txBox="1"/>
          <p:nvPr>
            <p:ph type="title"/>
          </p:nvPr>
        </p:nvSpPr>
        <p:spPr>
          <a:xfrm>
            <a:off x="1619250" y="732234"/>
            <a:ext cx="7345500" cy="38100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3" name="Google Shape;13;p3"/>
          <p:cNvSpPr txBox="1"/>
          <p:nvPr>
            <p:ph idx="1" type="body"/>
          </p:nvPr>
        </p:nvSpPr>
        <p:spPr>
          <a:xfrm>
            <a:off x="1619250" y="1168003"/>
            <a:ext cx="7345500" cy="38337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 name="Google Shape;14;p3"/>
          <p:cNvSpPr txBox="1"/>
          <p:nvPr>
            <p:ph idx="10" type="dt"/>
          </p:nvPr>
        </p:nvSpPr>
        <p:spPr>
          <a:xfrm>
            <a:off x="0" y="0"/>
            <a:ext cx="3000000" cy="225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3"/>
          <p:cNvSpPr txBox="1"/>
          <p:nvPr>
            <p:ph idx="11" type="ftr"/>
          </p:nvPr>
        </p:nvSpPr>
        <p:spPr>
          <a:xfrm>
            <a:off x="0" y="0"/>
            <a:ext cx="3000000" cy="225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 name="Google Shape;16;p3"/>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None/>
              <a:defRPr b="0" i="0" sz="1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None/>
              <a:defRPr b="0" i="0" sz="1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None/>
              <a:defRPr b="0" i="0" sz="1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None/>
              <a:defRPr b="0" i="0" sz="1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None/>
              <a:defRPr b="0" i="0" sz="1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None/>
              <a:defRPr b="0" i="0" sz="1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None/>
              <a:defRPr b="0" i="0" sz="1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None/>
              <a:defRPr b="0" i="0" sz="1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sz="1400">
              <a:solidFill>
                <a:srgbClr val="000000"/>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ctr" bIns="45700" lIns="91425" spcFirstLastPara="1" rIns="91425" wrap="square" tIns="4570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
          <p:cNvSpPr txBox="1"/>
          <p:nvPr>
            <p:ph idx="1" type="body"/>
          </p:nvPr>
        </p:nvSpPr>
        <p:spPr>
          <a:xfrm>
            <a:off x="311700" y="1152475"/>
            <a:ext cx="3999900" cy="3416400"/>
          </a:xfrm>
          <a:prstGeom prst="rect">
            <a:avLst/>
          </a:prstGeom>
        </p:spPr>
        <p:txBody>
          <a:bodyPr anchorCtr="0" anchor="t" bIns="45700" lIns="91425" spcFirstLastPara="1" rIns="91425" wrap="square" tIns="45700">
            <a:noAutofit/>
          </a:bodyPr>
          <a:lstStyle>
            <a:lvl1pPr indent="-317500" lvl="0" marL="457200">
              <a:spcBef>
                <a:spcPts val="480"/>
              </a:spcBef>
              <a:spcAft>
                <a:spcPts val="0"/>
              </a:spcAft>
              <a:buSzPts val="1400"/>
              <a:buChar char="•"/>
              <a:defRPr sz="1400"/>
            </a:lvl1pPr>
            <a:lvl2pPr indent="-304800" lvl="1" marL="914400">
              <a:spcBef>
                <a:spcPts val="480"/>
              </a:spcBef>
              <a:spcAft>
                <a:spcPts val="0"/>
              </a:spcAft>
              <a:buSzPts val="1200"/>
              <a:buChar char="–"/>
              <a:defRPr sz="1200"/>
            </a:lvl2pPr>
            <a:lvl3pPr indent="-304800" lvl="2" marL="1371600">
              <a:spcBef>
                <a:spcPts val="480"/>
              </a:spcBef>
              <a:spcAft>
                <a:spcPts val="0"/>
              </a:spcAft>
              <a:buSzPts val="1200"/>
              <a:buChar char="•"/>
              <a:defRPr sz="1200"/>
            </a:lvl3pPr>
            <a:lvl4pPr indent="-304800" lvl="3" marL="1828800">
              <a:spcBef>
                <a:spcPts val="400"/>
              </a:spcBef>
              <a:spcAft>
                <a:spcPts val="0"/>
              </a:spcAft>
              <a:buSzPts val="1200"/>
              <a:buChar char="–"/>
              <a:defRPr sz="1200"/>
            </a:lvl4pPr>
            <a:lvl5pPr indent="-304800" lvl="4" marL="2286000">
              <a:spcBef>
                <a:spcPts val="400"/>
              </a:spcBef>
              <a:spcAft>
                <a:spcPts val="0"/>
              </a:spcAft>
              <a:buSzPts val="1200"/>
              <a:buChar char="»"/>
              <a:defRPr sz="1200"/>
            </a:lvl5pPr>
            <a:lvl6pPr indent="-304800" lvl="5" marL="2743200">
              <a:spcBef>
                <a:spcPts val="400"/>
              </a:spcBef>
              <a:spcAft>
                <a:spcPts val="0"/>
              </a:spcAft>
              <a:buSzPts val="1200"/>
              <a:buChar char="»"/>
              <a:defRPr sz="1200"/>
            </a:lvl6pPr>
            <a:lvl7pPr indent="-304800" lvl="6" marL="3200400">
              <a:spcBef>
                <a:spcPts val="400"/>
              </a:spcBef>
              <a:spcAft>
                <a:spcPts val="0"/>
              </a:spcAft>
              <a:buSzPts val="1200"/>
              <a:buChar char="»"/>
              <a:defRPr sz="1200"/>
            </a:lvl7pPr>
            <a:lvl8pPr indent="-304800" lvl="7" marL="3657600">
              <a:spcBef>
                <a:spcPts val="400"/>
              </a:spcBef>
              <a:spcAft>
                <a:spcPts val="0"/>
              </a:spcAft>
              <a:buSzPts val="1200"/>
              <a:buChar char="»"/>
              <a:defRPr sz="1200"/>
            </a:lvl8pPr>
            <a:lvl9pPr indent="-304800" lvl="8" marL="4114800">
              <a:spcBef>
                <a:spcPts val="400"/>
              </a:spcBef>
              <a:spcAft>
                <a:spcPts val="0"/>
              </a:spcAft>
              <a:buSzPts val="1200"/>
              <a:buChar char="»"/>
              <a:defRPr sz="1200"/>
            </a:lvl9pPr>
          </a:lstStyle>
          <a:p/>
        </p:txBody>
      </p:sp>
      <p:sp>
        <p:nvSpPr>
          <p:cNvPr id="20" name="Google Shape;20;p4"/>
          <p:cNvSpPr txBox="1"/>
          <p:nvPr>
            <p:ph idx="2" type="body"/>
          </p:nvPr>
        </p:nvSpPr>
        <p:spPr>
          <a:xfrm>
            <a:off x="4832400" y="1152475"/>
            <a:ext cx="3999900" cy="3416400"/>
          </a:xfrm>
          <a:prstGeom prst="rect">
            <a:avLst/>
          </a:prstGeom>
        </p:spPr>
        <p:txBody>
          <a:bodyPr anchorCtr="0" anchor="t" bIns="45700" lIns="91425" spcFirstLastPara="1" rIns="91425" wrap="square" tIns="45700">
            <a:noAutofit/>
          </a:bodyPr>
          <a:lstStyle>
            <a:lvl1pPr indent="-317500" lvl="0" marL="457200">
              <a:spcBef>
                <a:spcPts val="480"/>
              </a:spcBef>
              <a:spcAft>
                <a:spcPts val="0"/>
              </a:spcAft>
              <a:buSzPts val="1400"/>
              <a:buChar char="•"/>
              <a:defRPr sz="1400"/>
            </a:lvl1pPr>
            <a:lvl2pPr indent="-304800" lvl="1" marL="914400">
              <a:spcBef>
                <a:spcPts val="480"/>
              </a:spcBef>
              <a:spcAft>
                <a:spcPts val="0"/>
              </a:spcAft>
              <a:buSzPts val="1200"/>
              <a:buChar char="–"/>
              <a:defRPr sz="1200"/>
            </a:lvl2pPr>
            <a:lvl3pPr indent="-304800" lvl="2" marL="1371600">
              <a:spcBef>
                <a:spcPts val="480"/>
              </a:spcBef>
              <a:spcAft>
                <a:spcPts val="0"/>
              </a:spcAft>
              <a:buSzPts val="1200"/>
              <a:buChar char="•"/>
              <a:defRPr sz="1200"/>
            </a:lvl3pPr>
            <a:lvl4pPr indent="-304800" lvl="3" marL="1828800">
              <a:spcBef>
                <a:spcPts val="400"/>
              </a:spcBef>
              <a:spcAft>
                <a:spcPts val="0"/>
              </a:spcAft>
              <a:buSzPts val="1200"/>
              <a:buChar char="–"/>
              <a:defRPr sz="1200"/>
            </a:lvl4pPr>
            <a:lvl5pPr indent="-304800" lvl="4" marL="2286000">
              <a:spcBef>
                <a:spcPts val="400"/>
              </a:spcBef>
              <a:spcAft>
                <a:spcPts val="0"/>
              </a:spcAft>
              <a:buSzPts val="1200"/>
              <a:buChar char="»"/>
              <a:defRPr sz="1200"/>
            </a:lvl5pPr>
            <a:lvl6pPr indent="-304800" lvl="5" marL="2743200">
              <a:spcBef>
                <a:spcPts val="400"/>
              </a:spcBef>
              <a:spcAft>
                <a:spcPts val="0"/>
              </a:spcAft>
              <a:buSzPts val="1200"/>
              <a:buChar char="»"/>
              <a:defRPr sz="1200"/>
            </a:lvl6pPr>
            <a:lvl7pPr indent="-304800" lvl="6" marL="3200400">
              <a:spcBef>
                <a:spcPts val="400"/>
              </a:spcBef>
              <a:spcAft>
                <a:spcPts val="0"/>
              </a:spcAft>
              <a:buSzPts val="1200"/>
              <a:buChar char="»"/>
              <a:defRPr sz="1200"/>
            </a:lvl7pPr>
            <a:lvl8pPr indent="-304800" lvl="7" marL="3657600">
              <a:spcBef>
                <a:spcPts val="400"/>
              </a:spcBef>
              <a:spcAft>
                <a:spcPts val="0"/>
              </a:spcAft>
              <a:buSzPts val="1200"/>
              <a:buChar char="»"/>
              <a:defRPr sz="1200"/>
            </a:lvl8pPr>
            <a:lvl9pPr indent="-304800" lvl="8" marL="4114800">
              <a:spcBef>
                <a:spcPts val="400"/>
              </a:spcBef>
              <a:spcAft>
                <a:spcPts val="0"/>
              </a:spcAft>
              <a:buSzPts val="1200"/>
              <a:buChar char="»"/>
              <a:defRPr sz="1200"/>
            </a:lvl9pPr>
          </a:lstStyle>
          <a:p/>
        </p:txBody>
      </p:sp>
      <p:sp>
        <p:nvSpPr>
          <p:cNvPr id="21" name="Google Shape;21;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619250" y="732234"/>
            <a:ext cx="7345500" cy="381000"/>
          </a:xfrm>
          <a:prstGeom prst="rect">
            <a:avLst/>
          </a:prstGeom>
          <a:noFill/>
          <a:ln>
            <a:noFill/>
          </a:ln>
        </p:spPr>
        <p:txBody>
          <a:bodyPr anchorCtr="0" anchor="ctr" bIns="45700" lIns="91425" spcFirstLastPara="1" rIns="91425" wrap="square" tIns="45700">
            <a:noAutofit/>
          </a:bodyPr>
          <a:lstStyle>
            <a:lvl1pPr lvl="0" marR="0" algn="r">
              <a:lnSpc>
                <a:spcPct val="100000"/>
              </a:lnSpc>
              <a:spcBef>
                <a:spcPts val="0"/>
              </a:spcBef>
              <a:spcAft>
                <a:spcPts val="0"/>
              </a:spcAft>
              <a:buSzPts val="1400"/>
              <a:buNone/>
              <a:defRPr b="0" i="0" sz="3600" u="none" cap="none" strike="noStrike">
                <a:solidFill>
                  <a:schemeClr val="lt2"/>
                </a:solidFill>
                <a:latin typeface="Arial"/>
                <a:ea typeface="Arial"/>
                <a:cs typeface="Arial"/>
                <a:sym typeface="Arial"/>
              </a:defRPr>
            </a:lvl1pPr>
            <a:lvl2pPr lvl="1" marR="0" algn="r">
              <a:lnSpc>
                <a:spcPct val="100000"/>
              </a:lnSpc>
              <a:spcBef>
                <a:spcPts val="0"/>
              </a:spcBef>
              <a:spcAft>
                <a:spcPts val="0"/>
              </a:spcAft>
              <a:buSzPts val="1400"/>
              <a:buNone/>
              <a:defRPr b="0" i="0" sz="3600" u="none" cap="none" strike="noStrike">
                <a:solidFill>
                  <a:schemeClr val="lt2"/>
                </a:solidFill>
                <a:latin typeface="Arial"/>
                <a:ea typeface="Arial"/>
                <a:cs typeface="Arial"/>
                <a:sym typeface="Arial"/>
              </a:defRPr>
            </a:lvl2pPr>
            <a:lvl3pPr lvl="2" marR="0" algn="r">
              <a:lnSpc>
                <a:spcPct val="100000"/>
              </a:lnSpc>
              <a:spcBef>
                <a:spcPts val="0"/>
              </a:spcBef>
              <a:spcAft>
                <a:spcPts val="0"/>
              </a:spcAft>
              <a:buSzPts val="1400"/>
              <a:buNone/>
              <a:defRPr b="0" i="0" sz="3600" u="none" cap="none" strike="noStrike">
                <a:solidFill>
                  <a:schemeClr val="lt2"/>
                </a:solidFill>
                <a:latin typeface="Arial"/>
                <a:ea typeface="Arial"/>
                <a:cs typeface="Arial"/>
                <a:sym typeface="Arial"/>
              </a:defRPr>
            </a:lvl3pPr>
            <a:lvl4pPr lvl="3" marR="0" algn="r">
              <a:lnSpc>
                <a:spcPct val="100000"/>
              </a:lnSpc>
              <a:spcBef>
                <a:spcPts val="0"/>
              </a:spcBef>
              <a:spcAft>
                <a:spcPts val="0"/>
              </a:spcAft>
              <a:buSzPts val="1400"/>
              <a:buNone/>
              <a:defRPr b="0" i="0" sz="3600" u="none" cap="none" strike="noStrike">
                <a:solidFill>
                  <a:schemeClr val="lt2"/>
                </a:solidFill>
                <a:latin typeface="Arial"/>
                <a:ea typeface="Arial"/>
                <a:cs typeface="Arial"/>
                <a:sym typeface="Arial"/>
              </a:defRPr>
            </a:lvl4pPr>
            <a:lvl5pPr lvl="4" marR="0" algn="r">
              <a:lnSpc>
                <a:spcPct val="100000"/>
              </a:lnSpc>
              <a:spcBef>
                <a:spcPts val="0"/>
              </a:spcBef>
              <a:spcAft>
                <a:spcPts val="0"/>
              </a:spcAft>
              <a:buSzPts val="1400"/>
              <a:buNone/>
              <a:defRPr b="0" i="0" sz="3600" u="none" cap="none" strike="noStrike">
                <a:solidFill>
                  <a:schemeClr val="lt2"/>
                </a:solidFill>
                <a:latin typeface="Arial"/>
                <a:ea typeface="Arial"/>
                <a:cs typeface="Arial"/>
                <a:sym typeface="Arial"/>
              </a:defRPr>
            </a:lvl5pPr>
            <a:lvl6pPr lvl="5" marR="0" algn="r">
              <a:lnSpc>
                <a:spcPct val="100000"/>
              </a:lnSpc>
              <a:spcBef>
                <a:spcPts val="0"/>
              </a:spcBef>
              <a:spcAft>
                <a:spcPts val="0"/>
              </a:spcAft>
              <a:buSzPts val="1400"/>
              <a:buNone/>
              <a:defRPr b="0" i="0" sz="3600" u="none" cap="none" strike="noStrike">
                <a:solidFill>
                  <a:schemeClr val="lt2"/>
                </a:solidFill>
                <a:latin typeface="Arial"/>
                <a:ea typeface="Arial"/>
                <a:cs typeface="Arial"/>
                <a:sym typeface="Arial"/>
              </a:defRPr>
            </a:lvl6pPr>
            <a:lvl7pPr lvl="6" marR="0" algn="r">
              <a:lnSpc>
                <a:spcPct val="100000"/>
              </a:lnSpc>
              <a:spcBef>
                <a:spcPts val="0"/>
              </a:spcBef>
              <a:spcAft>
                <a:spcPts val="0"/>
              </a:spcAft>
              <a:buSzPts val="1400"/>
              <a:buNone/>
              <a:defRPr b="0" i="0" sz="3600" u="none" cap="none" strike="noStrike">
                <a:solidFill>
                  <a:schemeClr val="lt2"/>
                </a:solidFill>
                <a:latin typeface="Arial"/>
                <a:ea typeface="Arial"/>
                <a:cs typeface="Arial"/>
                <a:sym typeface="Arial"/>
              </a:defRPr>
            </a:lvl7pPr>
            <a:lvl8pPr lvl="7" marR="0" algn="r">
              <a:lnSpc>
                <a:spcPct val="100000"/>
              </a:lnSpc>
              <a:spcBef>
                <a:spcPts val="0"/>
              </a:spcBef>
              <a:spcAft>
                <a:spcPts val="0"/>
              </a:spcAft>
              <a:buSzPts val="1400"/>
              <a:buNone/>
              <a:defRPr b="0" i="0" sz="3600" u="none" cap="none" strike="noStrike">
                <a:solidFill>
                  <a:schemeClr val="lt2"/>
                </a:solidFill>
                <a:latin typeface="Arial"/>
                <a:ea typeface="Arial"/>
                <a:cs typeface="Arial"/>
                <a:sym typeface="Arial"/>
              </a:defRPr>
            </a:lvl8pPr>
            <a:lvl9pPr lvl="8" marR="0" algn="r">
              <a:lnSpc>
                <a:spcPct val="100000"/>
              </a:lnSpc>
              <a:spcBef>
                <a:spcPts val="0"/>
              </a:spcBef>
              <a:spcAft>
                <a:spcPts val="0"/>
              </a:spcAft>
              <a:buSzPts val="1400"/>
              <a:buNone/>
              <a:defRPr b="0" i="0" sz="3600" u="none" cap="none" strike="noStrike">
                <a:solidFill>
                  <a:schemeClr val="lt2"/>
                </a:solidFill>
                <a:latin typeface="Arial"/>
                <a:ea typeface="Arial"/>
                <a:cs typeface="Arial"/>
                <a:sym typeface="Arial"/>
              </a:defRPr>
            </a:lvl9pPr>
          </a:lstStyle>
          <a:p/>
        </p:txBody>
      </p:sp>
      <p:sp>
        <p:nvSpPr>
          <p:cNvPr id="7" name="Google Shape;7;p1"/>
          <p:cNvSpPr txBox="1"/>
          <p:nvPr>
            <p:ph idx="1" type="body"/>
          </p:nvPr>
        </p:nvSpPr>
        <p:spPr>
          <a:xfrm>
            <a:off x="1619250" y="1168003"/>
            <a:ext cx="7345500" cy="3833700"/>
          </a:xfrm>
          <a:prstGeom prst="rect">
            <a:avLst/>
          </a:prstGeom>
          <a:noFill/>
          <a:ln>
            <a:noFill/>
          </a:ln>
        </p:spPr>
        <p:txBody>
          <a:bodyPr anchorCtr="0" anchor="t" bIns="45700" lIns="91425" spcFirstLastPara="1" rIns="91425" wrap="square" tIns="45700">
            <a:noAutofit/>
          </a:bodyPr>
          <a:lstStyle>
            <a:lvl1pPr indent="-381000" lvl="0" marL="4572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81000" lvl="1" marL="914400" marR="0" algn="l">
              <a:lnSpc>
                <a:spcPct val="100000"/>
              </a:lnSpc>
              <a:spcBef>
                <a:spcPts val="480"/>
              </a:spcBef>
              <a:spcAft>
                <a:spcPts val="0"/>
              </a:spcAft>
              <a:buClr>
                <a:schemeClr val="dk1"/>
              </a:buClr>
              <a:buSzPts val="2400"/>
              <a:buFont typeface="Arial"/>
              <a:buChar char="–"/>
              <a:defRPr b="1" i="0" sz="2400" u="none" cap="none" strike="noStrike">
                <a:solidFill>
                  <a:schemeClr val="dk1"/>
                </a:solidFill>
                <a:latin typeface="Arial"/>
                <a:ea typeface="Arial"/>
                <a:cs typeface="Arial"/>
                <a:sym typeface="Arial"/>
              </a:defRPr>
            </a:lvl2pPr>
            <a:lvl3pPr indent="-381000" lvl="2" marL="13716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sp>
        <p:nvSpPr>
          <p:cNvPr id="26" name="Google Shape;26;p5"/>
          <p:cNvSpPr txBox="1"/>
          <p:nvPr>
            <p:ph type="ctrTitle"/>
          </p:nvPr>
        </p:nvSpPr>
        <p:spPr>
          <a:xfrm>
            <a:off x="-924317" y="1920875"/>
            <a:ext cx="8520600" cy="20526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
                <a:solidFill>
                  <a:srgbClr val="0000FF"/>
                </a:solidFill>
              </a:rPr>
              <a:t>Credit Card</a:t>
            </a:r>
            <a:r>
              <a:rPr lang="en">
                <a:solidFill>
                  <a:srgbClr val="0000FF"/>
                </a:solidFill>
              </a:rPr>
              <a:t> Fraud Detection System</a:t>
            </a:r>
            <a:endParaRPr>
              <a:solidFill>
                <a:srgbClr val="0000FF"/>
              </a:solidFill>
            </a:endParaRPr>
          </a:p>
        </p:txBody>
      </p:sp>
      <p:sp>
        <p:nvSpPr>
          <p:cNvPr id="27" name="Google Shape;27;p5"/>
          <p:cNvSpPr txBox="1"/>
          <p:nvPr>
            <p:ph idx="1" type="subTitle"/>
          </p:nvPr>
        </p:nvSpPr>
        <p:spPr>
          <a:xfrm>
            <a:off x="394037" y="3450884"/>
            <a:ext cx="6048300" cy="522600"/>
          </a:xfrm>
          <a:prstGeom prst="rect">
            <a:avLst/>
          </a:prstGeom>
        </p:spPr>
        <p:txBody>
          <a:bodyPr anchorCtr="0" anchor="t" bIns="45700" lIns="91425" spcFirstLastPara="1" rIns="91425" wrap="square" tIns="45700">
            <a:noAutofit/>
          </a:bodyPr>
          <a:lstStyle/>
          <a:p>
            <a:pPr indent="-342900" lvl="0" marL="457200" rtl="0" algn="l">
              <a:spcBef>
                <a:spcPts val="360"/>
              </a:spcBef>
              <a:spcAft>
                <a:spcPts val="0"/>
              </a:spcAft>
              <a:buClr>
                <a:srgbClr val="000000"/>
              </a:buClr>
              <a:buSzPts val="1800"/>
              <a:buChar char="●"/>
            </a:pPr>
            <a:r>
              <a:rPr lang="en">
                <a:solidFill>
                  <a:srgbClr val="000000"/>
                </a:solidFill>
              </a:rPr>
              <a:t>Abayomi Adesina</a:t>
            </a:r>
            <a:endParaRPr>
              <a:solidFill>
                <a:srgbClr val="000000"/>
              </a:solidFill>
            </a:endParaRPr>
          </a:p>
          <a:p>
            <a:pPr indent="-342900" lvl="0" marL="457200" rtl="0" algn="l">
              <a:spcBef>
                <a:spcPts val="360"/>
              </a:spcBef>
              <a:spcAft>
                <a:spcPts val="0"/>
              </a:spcAft>
              <a:buClr>
                <a:srgbClr val="000000"/>
              </a:buClr>
              <a:buSzPts val="1800"/>
              <a:buChar char="●"/>
            </a:pPr>
            <a:r>
              <a:rPr lang="en">
                <a:solidFill>
                  <a:srgbClr val="000000"/>
                </a:solidFill>
              </a:rPr>
              <a:t>Andres Porras</a:t>
            </a:r>
            <a:endParaRPr>
              <a:solidFill>
                <a:srgbClr val="000000"/>
              </a:solidFill>
            </a:endParaRPr>
          </a:p>
          <a:p>
            <a:pPr indent="-342900" lvl="0" marL="457200" rtl="0" algn="l">
              <a:spcBef>
                <a:spcPts val="360"/>
              </a:spcBef>
              <a:spcAft>
                <a:spcPts val="0"/>
              </a:spcAft>
              <a:buClr>
                <a:srgbClr val="000000"/>
              </a:buClr>
              <a:buSzPts val="1800"/>
              <a:buChar char="●"/>
            </a:pPr>
            <a:r>
              <a:rPr lang="en">
                <a:solidFill>
                  <a:srgbClr val="000000"/>
                </a:solidFill>
              </a:rPr>
              <a:t>Madhan Murugan</a:t>
            </a:r>
            <a:endParaRPr>
              <a:solidFill>
                <a:srgbClr val="000000"/>
              </a:solidFill>
            </a:endParaRPr>
          </a:p>
          <a:p>
            <a:pPr indent="-342900" lvl="0" marL="457200" rtl="0" algn="l">
              <a:spcBef>
                <a:spcPts val="360"/>
              </a:spcBef>
              <a:spcAft>
                <a:spcPts val="0"/>
              </a:spcAft>
              <a:buClr>
                <a:srgbClr val="000000"/>
              </a:buClr>
              <a:buSzPts val="1800"/>
              <a:buChar char="●"/>
            </a:pPr>
            <a:r>
              <a:rPr lang="en">
                <a:solidFill>
                  <a:srgbClr val="000000"/>
                </a:solidFill>
              </a:rPr>
              <a:t>Surshita Cheripalli</a:t>
            </a:r>
            <a:endParaRPr>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6"/>
          <p:cNvSpPr txBox="1"/>
          <p:nvPr>
            <p:ph type="title"/>
          </p:nvPr>
        </p:nvSpPr>
        <p:spPr>
          <a:xfrm>
            <a:off x="1619250" y="732234"/>
            <a:ext cx="7345500" cy="381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
              <a:t>Introduction		</a:t>
            </a:r>
            <a:endParaRPr/>
          </a:p>
        </p:txBody>
      </p:sp>
      <p:sp>
        <p:nvSpPr>
          <p:cNvPr id="33" name="Google Shape;33;p6"/>
          <p:cNvSpPr txBox="1"/>
          <p:nvPr>
            <p:ph idx="1" type="body"/>
          </p:nvPr>
        </p:nvSpPr>
        <p:spPr>
          <a:xfrm>
            <a:off x="174375" y="1619800"/>
            <a:ext cx="8790300" cy="33819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 sz="2300">
                <a:solidFill>
                  <a:srgbClr val="000000"/>
                </a:solidFill>
              </a:rPr>
              <a:t>In today's digital age, the prevalence of online transactions has significantly increased, providing consumers with unparalleled convenience and accessibility. However, this surge in online activity has also led to a rise in fraudulent activities, particularly in the realm of credit card transactions. Credit card fraud poses a substantial threat to both consumers and financial institutions, resulting in billions of dollars lost annually. As a result, the need for effective fraud detection mechanisms has never been more critical.</a:t>
            </a:r>
            <a:endParaRPr sz="23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7"/>
          <p:cNvSpPr txBox="1"/>
          <p:nvPr>
            <p:ph type="title"/>
          </p:nvPr>
        </p:nvSpPr>
        <p:spPr>
          <a:xfrm>
            <a:off x="1619250" y="732234"/>
            <a:ext cx="7345500" cy="381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
              <a:t>Problem Statement</a:t>
            </a:r>
            <a:endParaRPr/>
          </a:p>
        </p:txBody>
      </p:sp>
      <p:sp>
        <p:nvSpPr>
          <p:cNvPr id="39" name="Google Shape;39;p7"/>
          <p:cNvSpPr txBox="1"/>
          <p:nvPr>
            <p:ph idx="1" type="body"/>
          </p:nvPr>
        </p:nvSpPr>
        <p:spPr>
          <a:xfrm>
            <a:off x="470575" y="1377450"/>
            <a:ext cx="8494200" cy="3624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 sz="2200">
                <a:solidFill>
                  <a:srgbClr val="000000"/>
                </a:solidFill>
              </a:rPr>
              <a:t>This project aims to develop a robust credit card fraud detection system utilizing advanced machine learning techniques. By leveraging data-driven approaches, we can identify and mitigate fraudulent activities in real-time, enhancing the security of electronic transactions. Our system will analyze transaction patterns and behaviors to distinguish between legitimate and fraudulent activities, thereby safeguarding consumers and reducing financial losses.</a:t>
            </a:r>
            <a:endParaRPr sz="22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8"/>
          <p:cNvSpPr txBox="1"/>
          <p:nvPr>
            <p:ph type="title"/>
          </p:nvPr>
        </p:nvSpPr>
        <p:spPr>
          <a:xfrm>
            <a:off x="1619250" y="732234"/>
            <a:ext cx="7345500" cy="381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
              <a:t>Problem Goal</a:t>
            </a:r>
            <a:endParaRPr/>
          </a:p>
        </p:txBody>
      </p:sp>
      <p:sp>
        <p:nvSpPr>
          <p:cNvPr id="45" name="Google Shape;45;p8"/>
          <p:cNvSpPr txBox="1"/>
          <p:nvPr>
            <p:ph idx="1" type="body"/>
          </p:nvPr>
        </p:nvSpPr>
        <p:spPr>
          <a:xfrm>
            <a:off x="470575" y="1168000"/>
            <a:ext cx="8494200" cy="3833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 sz="1600">
                <a:solidFill>
                  <a:srgbClr val="000000"/>
                </a:solidFill>
              </a:rPr>
              <a:t>Our variable column "fraud" will be our target variable. This column </a:t>
            </a:r>
            <a:r>
              <a:rPr lang="en" sz="1600">
                <a:solidFill>
                  <a:srgbClr val="000000"/>
                </a:solidFill>
                <a:latin typeface="Verdana"/>
                <a:ea typeface="Verdana"/>
                <a:cs typeface="Verdana"/>
                <a:sym typeface="Verdana"/>
              </a:rPr>
              <a:t>indicates whether the transaction was fraudulent (1 for fraud, 0 for not fraud).</a:t>
            </a:r>
            <a:endParaRPr sz="1600">
              <a:solidFill>
                <a:srgbClr val="000000"/>
              </a:solidFill>
              <a:latin typeface="Verdana"/>
              <a:ea typeface="Verdana"/>
              <a:cs typeface="Verdana"/>
              <a:sym typeface="Verdana"/>
            </a:endParaRPr>
          </a:p>
          <a:p>
            <a:pPr indent="0" lvl="0" marL="0" rtl="0" algn="l">
              <a:spcBef>
                <a:spcPts val="360"/>
              </a:spcBef>
              <a:spcAft>
                <a:spcPts val="0"/>
              </a:spcAft>
              <a:buNone/>
            </a:pPr>
            <a:r>
              <a:t/>
            </a:r>
            <a:endParaRPr sz="1600">
              <a:solidFill>
                <a:srgbClr val="000000"/>
              </a:solidFill>
            </a:endParaRPr>
          </a:p>
          <a:p>
            <a:pPr indent="0" lvl="0" marL="0" rtl="0" algn="l">
              <a:spcBef>
                <a:spcPts val="360"/>
              </a:spcBef>
              <a:spcAft>
                <a:spcPts val="0"/>
              </a:spcAft>
              <a:buNone/>
            </a:pPr>
            <a:r>
              <a:rPr lang="en" sz="1600">
                <a:solidFill>
                  <a:srgbClr val="000000"/>
                </a:solidFill>
              </a:rPr>
              <a:t>We will predict whether a transaction is fraudulent or not based on the other variables.</a:t>
            </a:r>
            <a:endParaRPr sz="1600">
              <a:solidFill>
                <a:srgbClr val="000000"/>
              </a:solidFill>
            </a:endParaRPr>
          </a:p>
          <a:p>
            <a:pPr indent="-330200" lvl="0" marL="1371600" rtl="0" algn="l">
              <a:spcBef>
                <a:spcPts val="360"/>
              </a:spcBef>
              <a:spcAft>
                <a:spcPts val="0"/>
              </a:spcAft>
              <a:buClr>
                <a:srgbClr val="000000"/>
              </a:buClr>
              <a:buSzPts val="1600"/>
              <a:buChar char="●"/>
            </a:pPr>
            <a:r>
              <a:rPr lang="en" sz="1600">
                <a:solidFill>
                  <a:srgbClr val="000000"/>
                </a:solidFill>
              </a:rPr>
              <a:t>D</a:t>
            </a:r>
            <a:r>
              <a:rPr lang="en" sz="1600">
                <a:solidFill>
                  <a:srgbClr val="000000"/>
                </a:solidFill>
              </a:rPr>
              <a:t>istance_from_home: the distance from home where the transaction happened.</a:t>
            </a:r>
            <a:endParaRPr sz="1600">
              <a:solidFill>
                <a:srgbClr val="000000"/>
              </a:solidFill>
            </a:endParaRPr>
          </a:p>
          <a:p>
            <a:pPr indent="-330200" lvl="0" marL="1371600" rtl="0" algn="l">
              <a:spcBef>
                <a:spcPts val="0"/>
              </a:spcBef>
              <a:spcAft>
                <a:spcPts val="0"/>
              </a:spcAft>
              <a:buClr>
                <a:srgbClr val="000000"/>
              </a:buClr>
              <a:buSzPts val="1600"/>
              <a:buChar char="●"/>
            </a:pPr>
            <a:r>
              <a:rPr lang="en" sz="1600">
                <a:solidFill>
                  <a:srgbClr val="000000"/>
                </a:solidFill>
              </a:rPr>
              <a:t>Distance_from_last_transaction: the distance from last transaction happened.</a:t>
            </a:r>
            <a:endParaRPr sz="1600">
              <a:solidFill>
                <a:srgbClr val="000000"/>
              </a:solidFill>
            </a:endParaRPr>
          </a:p>
          <a:p>
            <a:pPr indent="-330200" lvl="0" marL="1371600" rtl="0" algn="l">
              <a:spcBef>
                <a:spcPts val="0"/>
              </a:spcBef>
              <a:spcAft>
                <a:spcPts val="0"/>
              </a:spcAft>
              <a:buClr>
                <a:srgbClr val="000000"/>
              </a:buClr>
              <a:buSzPts val="1600"/>
              <a:buChar char="●"/>
            </a:pPr>
            <a:r>
              <a:rPr lang="en" sz="1600">
                <a:solidFill>
                  <a:srgbClr val="000000"/>
                </a:solidFill>
              </a:rPr>
              <a:t>Ratio_to_median_purchase_price: Ratio of purchased price transaction to median purchase price.</a:t>
            </a:r>
            <a:endParaRPr sz="1600">
              <a:solidFill>
                <a:srgbClr val="000000"/>
              </a:solidFill>
            </a:endParaRPr>
          </a:p>
          <a:p>
            <a:pPr indent="-330200" lvl="0" marL="1371600" rtl="0" algn="l">
              <a:spcBef>
                <a:spcPts val="0"/>
              </a:spcBef>
              <a:spcAft>
                <a:spcPts val="0"/>
              </a:spcAft>
              <a:buClr>
                <a:srgbClr val="000000"/>
              </a:buClr>
              <a:buSzPts val="1600"/>
              <a:buChar char="●"/>
            </a:pPr>
            <a:r>
              <a:rPr lang="en" sz="1600">
                <a:solidFill>
                  <a:srgbClr val="000000"/>
                </a:solidFill>
              </a:rPr>
              <a:t>Repeat_retailer: Is the transaction happened from same retailer.</a:t>
            </a:r>
            <a:endParaRPr sz="1600">
              <a:solidFill>
                <a:srgbClr val="000000"/>
              </a:solidFill>
            </a:endParaRPr>
          </a:p>
          <a:p>
            <a:pPr indent="-330200" lvl="0" marL="1371600" rtl="0" algn="l">
              <a:spcBef>
                <a:spcPts val="0"/>
              </a:spcBef>
              <a:spcAft>
                <a:spcPts val="0"/>
              </a:spcAft>
              <a:buClr>
                <a:srgbClr val="000000"/>
              </a:buClr>
              <a:buSzPts val="1600"/>
              <a:buChar char="●"/>
            </a:pPr>
            <a:r>
              <a:rPr lang="en" sz="1600">
                <a:solidFill>
                  <a:srgbClr val="000000"/>
                </a:solidFill>
              </a:rPr>
              <a:t>Used_chip: Is the transaction through chip (credit card).</a:t>
            </a:r>
            <a:endParaRPr sz="1600">
              <a:solidFill>
                <a:srgbClr val="000000"/>
              </a:solidFill>
            </a:endParaRPr>
          </a:p>
          <a:p>
            <a:pPr indent="-330200" lvl="0" marL="1371600" rtl="0" algn="l">
              <a:spcBef>
                <a:spcPts val="0"/>
              </a:spcBef>
              <a:spcAft>
                <a:spcPts val="0"/>
              </a:spcAft>
              <a:buClr>
                <a:srgbClr val="000000"/>
              </a:buClr>
              <a:buSzPts val="1600"/>
              <a:buChar char="●"/>
            </a:pPr>
            <a:r>
              <a:rPr lang="en" sz="1600">
                <a:solidFill>
                  <a:srgbClr val="000000"/>
                </a:solidFill>
              </a:rPr>
              <a:t>Used_pin_number: Is the transaction happened by using PIN number.</a:t>
            </a:r>
            <a:endParaRPr sz="1600">
              <a:solidFill>
                <a:srgbClr val="000000"/>
              </a:solidFill>
            </a:endParaRPr>
          </a:p>
          <a:p>
            <a:pPr indent="-330200" lvl="0" marL="1371600" rtl="0" algn="l">
              <a:spcBef>
                <a:spcPts val="0"/>
              </a:spcBef>
              <a:spcAft>
                <a:spcPts val="0"/>
              </a:spcAft>
              <a:buClr>
                <a:srgbClr val="000000"/>
              </a:buClr>
              <a:buSzPts val="1600"/>
              <a:buChar char="●"/>
            </a:pPr>
            <a:r>
              <a:rPr lang="en" sz="1600">
                <a:solidFill>
                  <a:srgbClr val="000000"/>
                </a:solidFill>
              </a:rPr>
              <a:t>Online_order: Is the transaction an online order.</a:t>
            </a:r>
            <a:endParaRPr sz="1600">
              <a:solidFill>
                <a:srgbClr val="000000"/>
              </a:solidFill>
            </a:endParaRPr>
          </a:p>
          <a:p>
            <a:pPr indent="-330200" lvl="0" marL="1371600" rtl="0" algn="l">
              <a:spcBef>
                <a:spcPts val="0"/>
              </a:spcBef>
              <a:spcAft>
                <a:spcPts val="0"/>
              </a:spcAft>
              <a:buClr>
                <a:srgbClr val="000000"/>
              </a:buClr>
              <a:buSzPts val="1600"/>
              <a:buChar char="●"/>
            </a:pPr>
            <a:r>
              <a:rPr lang="en" sz="1600">
                <a:solidFill>
                  <a:srgbClr val="000000"/>
                </a:solidFill>
              </a:rPr>
              <a:t>Fraud: Is the transaction fraudulent.</a:t>
            </a:r>
            <a:endParaRPr sz="16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9"/>
          <p:cNvSpPr txBox="1"/>
          <p:nvPr>
            <p:ph type="title"/>
          </p:nvPr>
        </p:nvSpPr>
        <p:spPr>
          <a:xfrm>
            <a:off x="1619250" y="732234"/>
            <a:ext cx="7345500" cy="381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
              <a:t>Data Collection &amp; Data Cleaning</a:t>
            </a:r>
            <a:endParaRPr/>
          </a:p>
        </p:txBody>
      </p:sp>
      <p:sp>
        <p:nvSpPr>
          <p:cNvPr id="51" name="Google Shape;51;p9"/>
          <p:cNvSpPr txBox="1"/>
          <p:nvPr>
            <p:ph idx="1" type="body"/>
          </p:nvPr>
        </p:nvSpPr>
        <p:spPr>
          <a:xfrm>
            <a:off x="450400" y="1168000"/>
            <a:ext cx="8514300" cy="3833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a:p>
            <a:pPr indent="0" lvl="0" marL="0" rtl="0" algn="l">
              <a:spcBef>
                <a:spcPts val="360"/>
              </a:spcBef>
              <a:spcAft>
                <a:spcPts val="0"/>
              </a:spcAft>
              <a:buNone/>
            </a:pPr>
            <a:r>
              <a:rPr lang="en">
                <a:solidFill>
                  <a:srgbClr val="000000"/>
                </a:solidFill>
              </a:rPr>
              <a:t>We applied various data preprocessing techniques, including outlier removal, and handling of missing values - delete, impute, to clean and prepare our dataset for analysis.</a:t>
            </a:r>
            <a:endParaRPr>
              <a:solidFill>
                <a:srgbClr val="000000"/>
              </a:solidFill>
            </a:endParaRPr>
          </a:p>
          <a:p>
            <a:pPr indent="-342900" lvl="0" marL="457200" rtl="0" algn="l">
              <a:spcBef>
                <a:spcPts val="360"/>
              </a:spcBef>
              <a:spcAft>
                <a:spcPts val="0"/>
              </a:spcAft>
              <a:buClr>
                <a:srgbClr val="000000"/>
              </a:buClr>
              <a:buSzPts val="1800"/>
              <a:buChar char="-"/>
            </a:pPr>
            <a:r>
              <a:rPr lang="en">
                <a:solidFill>
                  <a:srgbClr val="000000"/>
                </a:solidFill>
              </a:rPr>
              <a:t>We utilized StatExplore to </a:t>
            </a:r>
            <a:r>
              <a:rPr lang="en">
                <a:solidFill>
                  <a:srgbClr val="000000"/>
                </a:solidFill>
              </a:rPr>
              <a:t>identity</a:t>
            </a:r>
            <a:r>
              <a:rPr lang="en">
                <a:solidFill>
                  <a:srgbClr val="000000"/>
                </a:solidFill>
              </a:rPr>
              <a:t> important variables for our dataset. Others were removed.</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StatExplore </a:t>
            </a:r>
            <a:r>
              <a:rPr lang="en">
                <a:solidFill>
                  <a:srgbClr val="000000"/>
                </a:solidFill>
              </a:rPr>
              <a:t>enhanced</a:t>
            </a:r>
            <a:r>
              <a:rPr lang="en">
                <a:solidFill>
                  <a:srgbClr val="000000"/>
                </a:solidFill>
              </a:rPr>
              <a:t> us to efficiently evaluate the connections </a:t>
            </a:r>
            <a:r>
              <a:rPr lang="en">
                <a:solidFill>
                  <a:srgbClr val="000000"/>
                </a:solidFill>
              </a:rPr>
              <a:t>between</a:t>
            </a:r>
            <a:r>
              <a:rPr lang="en">
                <a:solidFill>
                  <a:srgbClr val="000000"/>
                </a:solidFill>
              </a:rPr>
              <a:t> different variables and </a:t>
            </a:r>
            <a:r>
              <a:rPr lang="en">
                <a:solidFill>
                  <a:srgbClr val="000000"/>
                </a:solidFill>
              </a:rPr>
              <a:t>their</a:t>
            </a:r>
            <a:r>
              <a:rPr lang="en">
                <a:solidFill>
                  <a:srgbClr val="000000"/>
                </a:solidFill>
              </a:rPr>
              <a:t> relevance to the target variable.</a:t>
            </a:r>
            <a:endParaRPr>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0"/>
          <p:cNvSpPr txBox="1"/>
          <p:nvPr>
            <p:ph type="title"/>
          </p:nvPr>
        </p:nvSpPr>
        <p:spPr>
          <a:xfrm>
            <a:off x="1619250" y="732234"/>
            <a:ext cx="7345500" cy="381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
              <a:t>Analysis Approach</a:t>
            </a:r>
            <a:endParaRPr/>
          </a:p>
        </p:txBody>
      </p:sp>
      <p:sp>
        <p:nvSpPr>
          <p:cNvPr id="57" name="Google Shape;57;p10"/>
          <p:cNvSpPr txBox="1"/>
          <p:nvPr>
            <p:ph idx="1" type="body"/>
          </p:nvPr>
        </p:nvSpPr>
        <p:spPr>
          <a:xfrm>
            <a:off x="-25" y="1168000"/>
            <a:ext cx="9144000" cy="38337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 sz="2000"/>
              <a:t>Our team has decided to incorporate a range of analytical approaches to evaluate our Credit Card Fraud model. We compared its performance against the following SAS techniques:</a:t>
            </a:r>
            <a:endParaRPr sz="2000"/>
          </a:p>
          <a:p>
            <a:pPr indent="-330200" lvl="0" marL="457200" rtl="0" algn="l">
              <a:lnSpc>
                <a:spcPct val="115000"/>
              </a:lnSpc>
              <a:spcBef>
                <a:spcPts val="1200"/>
              </a:spcBef>
              <a:spcAft>
                <a:spcPts val="0"/>
              </a:spcAft>
              <a:buClr>
                <a:srgbClr val="000000"/>
              </a:buClr>
              <a:buSzPts val="1600"/>
              <a:buChar char="●"/>
            </a:pPr>
            <a:r>
              <a:rPr b="1" lang="en" sz="2000"/>
              <a:t>StatExplore</a:t>
            </a:r>
            <a:endParaRPr b="1" sz="2000"/>
          </a:p>
          <a:p>
            <a:pPr indent="-330200" lvl="0" marL="457200" rtl="0" algn="l">
              <a:lnSpc>
                <a:spcPct val="115000"/>
              </a:lnSpc>
              <a:spcBef>
                <a:spcPts val="0"/>
              </a:spcBef>
              <a:spcAft>
                <a:spcPts val="0"/>
              </a:spcAft>
              <a:buClr>
                <a:srgbClr val="000000"/>
              </a:buClr>
              <a:buSzPts val="1600"/>
              <a:buChar char="●"/>
            </a:pPr>
            <a:r>
              <a:rPr b="1" lang="en" sz="2000"/>
              <a:t>Neural Networks</a:t>
            </a:r>
            <a:endParaRPr b="1" sz="2000"/>
          </a:p>
          <a:p>
            <a:pPr indent="-330200" lvl="0" marL="457200" rtl="0" algn="l">
              <a:lnSpc>
                <a:spcPct val="115000"/>
              </a:lnSpc>
              <a:spcBef>
                <a:spcPts val="0"/>
              </a:spcBef>
              <a:spcAft>
                <a:spcPts val="0"/>
              </a:spcAft>
              <a:buClr>
                <a:srgbClr val="000000"/>
              </a:buClr>
              <a:buSzPts val="1600"/>
              <a:buChar char="●"/>
            </a:pPr>
            <a:r>
              <a:rPr b="1" lang="en" sz="2000"/>
              <a:t>Decision Trees</a:t>
            </a:r>
            <a:endParaRPr b="1" sz="2000"/>
          </a:p>
          <a:p>
            <a:pPr indent="-330200" lvl="1" marL="914400" rtl="0" algn="l">
              <a:lnSpc>
                <a:spcPct val="115000"/>
              </a:lnSpc>
              <a:spcBef>
                <a:spcPts val="0"/>
              </a:spcBef>
              <a:spcAft>
                <a:spcPts val="0"/>
              </a:spcAft>
              <a:buClr>
                <a:srgbClr val="000000"/>
              </a:buClr>
              <a:buSzPts val="1600"/>
              <a:buAutoNum type="alphaLcPeriod"/>
            </a:pPr>
            <a:r>
              <a:rPr b="0" lang="en" sz="2000"/>
              <a:t>Gradient Boosting</a:t>
            </a:r>
            <a:endParaRPr b="0" sz="2000"/>
          </a:p>
          <a:p>
            <a:pPr indent="-330200" lvl="1" marL="914400" rtl="0" algn="l">
              <a:lnSpc>
                <a:spcPct val="115000"/>
              </a:lnSpc>
              <a:spcBef>
                <a:spcPts val="0"/>
              </a:spcBef>
              <a:spcAft>
                <a:spcPts val="0"/>
              </a:spcAft>
              <a:buClr>
                <a:srgbClr val="000000"/>
              </a:buClr>
              <a:buSzPts val="1600"/>
              <a:buAutoNum type="alphaLcPeriod"/>
            </a:pPr>
            <a:r>
              <a:rPr b="0" lang="en" sz="2000"/>
              <a:t>4-Branch, 12-Deep Model</a:t>
            </a:r>
            <a:endParaRPr b="0" sz="2000"/>
          </a:p>
          <a:p>
            <a:pPr indent="-330200" lvl="1" marL="914400" rtl="0" algn="l">
              <a:lnSpc>
                <a:spcPct val="115000"/>
              </a:lnSpc>
              <a:spcBef>
                <a:spcPts val="0"/>
              </a:spcBef>
              <a:spcAft>
                <a:spcPts val="0"/>
              </a:spcAft>
              <a:buClr>
                <a:srgbClr val="000000"/>
              </a:buClr>
              <a:buSzPts val="1600"/>
              <a:buAutoNum type="alphaLcPeriod"/>
            </a:pPr>
            <a:r>
              <a:rPr b="0" lang="en" sz="2000"/>
              <a:t>2-Branch, 6-Deep Model</a:t>
            </a:r>
            <a:endParaRPr b="0" sz="2000"/>
          </a:p>
          <a:p>
            <a:pPr indent="-330200" lvl="1" marL="914400" rtl="0" algn="l">
              <a:lnSpc>
                <a:spcPct val="115000"/>
              </a:lnSpc>
              <a:spcBef>
                <a:spcPts val="0"/>
              </a:spcBef>
              <a:spcAft>
                <a:spcPts val="0"/>
              </a:spcAft>
              <a:buClr>
                <a:srgbClr val="000000"/>
              </a:buClr>
              <a:buSzPts val="1600"/>
              <a:buAutoNum type="alphaLcPeriod"/>
            </a:pPr>
            <a:r>
              <a:rPr b="0" lang="en" sz="2000"/>
              <a:t>HP Forest</a:t>
            </a:r>
            <a:endParaRPr b="0" sz="2000"/>
          </a:p>
          <a:p>
            <a:pPr indent="-330200" lvl="0" marL="457200" rtl="0" algn="l">
              <a:lnSpc>
                <a:spcPct val="115000"/>
              </a:lnSpc>
              <a:spcBef>
                <a:spcPts val="0"/>
              </a:spcBef>
              <a:spcAft>
                <a:spcPts val="0"/>
              </a:spcAft>
              <a:buClr>
                <a:srgbClr val="000000"/>
              </a:buClr>
              <a:buSzPts val="1600"/>
              <a:buChar char="●"/>
            </a:pPr>
            <a:r>
              <a:rPr b="1" lang="en" sz="2000"/>
              <a:t>Logistic Regression</a:t>
            </a:r>
            <a:endParaRPr b="1"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1"/>
          <p:cNvSpPr txBox="1"/>
          <p:nvPr>
            <p:ph type="title"/>
          </p:nvPr>
        </p:nvSpPr>
        <p:spPr>
          <a:xfrm>
            <a:off x="1619250" y="732234"/>
            <a:ext cx="7345500" cy="381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
              <a:t>SAS Diagram</a:t>
            </a:r>
            <a:endParaRPr/>
          </a:p>
        </p:txBody>
      </p:sp>
      <p:sp>
        <p:nvSpPr>
          <p:cNvPr id="63" name="Google Shape;63;p11"/>
          <p:cNvSpPr txBox="1"/>
          <p:nvPr>
            <p:ph idx="1" type="body"/>
          </p:nvPr>
        </p:nvSpPr>
        <p:spPr>
          <a:xfrm>
            <a:off x="1619250" y="1168003"/>
            <a:ext cx="7345500" cy="3833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64" name="Google Shape;64;p11"/>
          <p:cNvPicPr preferRelativeResize="0"/>
          <p:nvPr/>
        </p:nvPicPr>
        <p:blipFill>
          <a:blip r:embed="rId3">
            <a:alphaModFix/>
          </a:blip>
          <a:stretch>
            <a:fillRect/>
          </a:stretch>
        </p:blipFill>
        <p:spPr>
          <a:xfrm>
            <a:off x="0" y="0"/>
            <a:ext cx="5904149" cy="51435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2"/>
          <p:cNvSpPr txBox="1"/>
          <p:nvPr>
            <p:ph type="title"/>
          </p:nvPr>
        </p:nvSpPr>
        <p:spPr>
          <a:xfrm>
            <a:off x="1619250" y="732234"/>
            <a:ext cx="7345500" cy="381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
              <a:t>SAS StatExplore</a:t>
            </a:r>
            <a:endParaRPr/>
          </a:p>
        </p:txBody>
      </p:sp>
      <p:sp>
        <p:nvSpPr>
          <p:cNvPr id="70" name="Google Shape;70;p12"/>
          <p:cNvSpPr txBox="1"/>
          <p:nvPr>
            <p:ph idx="1" type="body"/>
          </p:nvPr>
        </p:nvSpPr>
        <p:spPr>
          <a:xfrm>
            <a:off x="0" y="1168000"/>
            <a:ext cx="9144000" cy="38337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 sz="1700">
                <a:solidFill>
                  <a:srgbClr val="000000"/>
                </a:solidFill>
              </a:rPr>
              <a:t>Most Important Variable:</a:t>
            </a:r>
            <a:endParaRPr b="1" sz="1700">
              <a:solidFill>
                <a:srgbClr val="000000"/>
              </a:solidFill>
            </a:endParaRPr>
          </a:p>
          <a:p>
            <a:pPr indent="-336550" lvl="1" marL="914400" rtl="0" algn="l">
              <a:lnSpc>
                <a:spcPct val="115000"/>
              </a:lnSpc>
              <a:spcBef>
                <a:spcPts val="1200"/>
              </a:spcBef>
              <a:spcAft>
                <a:spcPts val="0"/>
              </a:spcAft>
              <a:buClr>
                <a:srgbClr val="000000"/>
              </a:buClr>
              <a:buSzPts val="1700"/>
              <a:buChar char="○"/>
            </a:pPr>
            <a:r>
              <a:rPr b="0" lang="en" sz="1700">
                <a:solidFill>
                  <a:srgbClr val="000000"/>
                </a:solidFill>
              </a:rPr>
              <a:t>ratio_to_median_purchase_price has the highest worth. This suggests:</a:t>
            </a:r>
            <a:endParaRPr b="0" sz="1700">
              <a:solidFill>
                <a:srgbClr val="000000"/>
              </a:solidFill>
            </a:endParaRPr>
          </a:p>
          <a:p>
            <a:pPr indent="-336550" lvl="2" marL="1371600" rtl="0" algn="l">
              <a:lnSpc>
                <a:spcPct val="115000"/>
              </a:lnSpc>
              <a:spcBef>
                <a:spcPts val="0"/>
              </a:spcBef>
              <a:spcAft>
                <a:spcPts val="0"/>
              </a:spcAft>
              <a:buClr>
                <a:srgbClr val="000000"/>
              </a:buClr>
              <a:buSzPts val="1700"/>
              <a:buChar char="■"/>
            </a:pPr>
            <a:r>
              <a:rPr lang="en" sz="1700">
                <a:solidFill>
                  <a:srgbClr val="000000"/>
                </a:solidFill>
              </a:rPr>
              <a:t>Fraud is closely related to how a transactions amount compares to the median purchase price.</a:t>
            </a:r>
            <a:endParaRPr sz="1700">
              <a:solidFill>
                <a:srgbClr val="000000"/>
              </a:solidFill>
            </a:endParaRPr>
          </a:p>
          <a:p>
            <a:pPr indent="-336550" lvl="2" marL="1371600" rtl="0" algn="l">
              <a:lnSpc>
                <a:spcPct val="115000"/>
              </a:lnSpc>
              <a:spcBef>
                <a:spcPts val="0"/>
              </a:spcBef>
              <a:spcAft>
                <a:spcPts val="0"/>
              </a:spcAft>
              <a:buClr>
                <a:srgbClr val="000000"/>
              </a:buClr>
              <a:buSzPts val="1700"/>
              <a:buChar char="■"/>
            </a:pPr>
            <a:r>
              <a:rPr lang="en" sz="1700">
                <a:solidFill>
                  <a:srgbClr val="000000"/>
                </a:solidFill>
              </a:rPr>
              <a:t>Transactions significantly deviating from the median are more likely to be fraudulent.</a:t>
            </a:r>
            <a:endParaRPr sz="2900"/>
          </a:p>
        </p:txBody>
      </p:sp>
      <p:pic>
        <p:nvPicPr>
          <p:cNvPr id="71" name="Google Shape;71;p12"/>
          <p:cNvPicPr preferRelativeResize="0"/>
          <p:nvPr/>
        </p:nvPicPr>
        <p:blipFill>
          <a:blip r:embed="rId3">
            <a:alphaModFix/>
          </a:blip>
          <a:stretch>
            <a:fillRect/>
          </a:stretch>
        </p:blipFill>
        <p:spPr>
          <a:xfrm>
            <a:off x="0" y="3145414"/>
            <a:ext cx="9144002" cy="214782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3"/>
          <p:cNvSpPr txBox="1"/>
          <p:nvPr>
            <p:ph type="title"/>
          </p:nvPr>
        </p:nvSpPr>
        <p:spPr>
          <a:xfrm>
            <a:off x="1631000" y="485634"/>
            <a:ext cx="7345500" cy="381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
              <a:t>SAS Model - Neural Network</a:t>
            </a:r>
            <a:endParaRPr/>
          </a:p>
        </p:txBody>
      </p:sp>
      <p:pic>
        <p:nvPicPr>
          <p:cNvPr id="77" name="Google Shape;77;p13"/>
          <p:cNvPicPr preferRelativeResize="0"/>
          <p:nvPr/>
        </p:nvPicPr>
        <p:blipFill>
          <a:blip r:embed="rId3">
            <a:alphaModFix/>
          </a:blip>
          <a:stretch>
            <a:fillRect/>
          </a:stretch>
        </p:blipFill>
        <p:spPr>
          <a:xfrm>
            <a:off x="0" y="920675"/>
            <a:ext cx="9144000" cy="4222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4"/>
          <p:cNvSpPr txBox="1"/>
          <p:nvPr>
            <p:ph type="title"/>
          </p:nvPr>
        </p:nvSpPr>
        <p:spPr>
          <a:xfrm>
            <a:off x="1619250" y="732234"/>
            <a:ext cx="7345500" cy="381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
              <a:t>Neural Network - Analysis</a:t>
            </a:r>
            <a:endParaRPr/>
          </a:p>
        </p:txBody>
      </p:sp>
      <p:sp>
        <p:nvSpPr>
          <p:cNvPr id="83" name="Google Shape;83;p14"/>
          <p:cNvSpPr txBox="1"/>
          <p:nvPr>
            <p:ph idx="1" type="body"/>
          </p:nvPr>
        </p:nvSpPr>
        <p:spPr>
          <a:xfrm>
            <a:off x="0" y="1168000"/>
            <a:ext cx="8964600" cy="38337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 sz="1700">
                <a:solidFill>
                  <a:srgbClr val="000000"/>
                </a:solidFill>
              </a:rPr>
              <a:t>Alignment of Red and Blue Lines:</a:t>
            </a:r>
            <a:endParaRPr b="1" sz="1700">
              <a:solidFill>
                <a:srgbClr val="000000"/>
              </a:solidFill>
            </a:endParaRPr>
          </a:p>
          <a:p>
            <a:pPr indent="-336550" lvl="1" marL="914400" rtl="0" algn="l">
              <a:lnSpc>
                <a:spcPct val="115000"/>
              </a:lnSpc>
              <a:spcBef>
                <a:spcPts val="1200"/>
              </a:spcBef>
              <a:spcAft>
                <a:spcPts val="0"/>
              </a:spcAft>
              <a:buClr>
                <a:srgbClr val="000000"/>
              </a:buClr>
              <a:buSzPts val="1700"/>
              <a:buChar char="○"/>
            </a:pPr>
            <a:r>
              <a:rPr lang="en" sz="1700">
                <a:solidFill>
                  <a:srgbClr val="000000"/>
                </a:solidFill>
              </a:rPr>
              <a:t>Good Fit:</a:t>
            </a:r>
            <a:r>
              <a:rPr b="0" lang="en" sz="1700">
                <a:solidFill>
                  <a:srgbClr val="000000"/>
                </a:solidFill>
              </a:rPr>
              <a:t> In all three panels of the score distribution (Train, Validate, Test), the blue line (Mean Predicted) closely follows the red line (Mean Target), indicating that the model is accurately predicting the target variable across datasets.</a:t>
            </a:r>
            <a:endParaRPr b="0" sz="1700">
              <a:solidFill>
                <a:srgbClr val="000000"/>
              </a:solidFill>
            </a:endParaRPr>
          </a:p>
          <a:p>
            <a:pPr indent="-336550" lvl="1" marL="914400" rtl="0" algn="l">
              <a:lnSpc>
                <a:spcPct val="115000"/>
              </a:lnSpc>
              <a:spcBef>
                <a:spcPts val="0"/>
              </a:spcBef>
              <a:spcAft>
                <a:spcPts val="0"/>
              </a:spcAft>
              <a:buClr>
                <a:srgbClr val="000000"/>
              </a:buClr>
              <a:buSzPts val="1700"/>
              <a:buChar char="○"/>
            </a:pPr>
            <a:r>
              <a:rPr lang="en" sz="1700">
                <a:solidFill>
                  <a:srgbClr val="000000"/>
                </a:solidFill>
              </a:rPr>
              <a:t>Normalization:</a:t>
            </a:r>
            <a:r>
              <a:rPr b="0" lang="en" sz="1700">
                <a:solidFill>
                  <a:srgbClr val="000000"/>
                </a:solidFill>
              </a:rPr>
              <a:t> The alignment across Validate and Test datasets shows that the model is not overfitting to the training data.</a:t>
            </a:r>
            <a:endParaRPr b="0" sz="1700">
              <a:solidFill>
                <a:srgbClr val="000000"/>
              </a:solidFill>
            </a:endParaRPr>
          </a:p>
          <a:p>
            <a:pPr indent="0" lvl="0" marL="0" rtl="0" algn="l">
              <a:lnSpc>
                <a:spcPct val="115000"/>
              </a:lnSpc>
              <a:spcBef>
                <a:spcPts val="1200"/>
              </a:spcBef>
              <a:spcAft>
                <a:spcPts val="0"/>
              </a:spcAft>
              <a:buNone/>
            </a:pPr>
            <a:r>
              <a:rPr b="1" lang="en" sz="1700">
                <a:solidFill>
                  <a:srgbClr val="000000"/>
                </a:solidFill>
              </a:rPr>
              <a:t>Linear Relationship:</a:t>
            </a:r>
            <a:endParaRPr b="1" sz="1700">
              <a:solidFill>
                <a:srgbClr val="000000"/>
              </a:solidFill>
            </a:endParaRPr>
          </a:p>
          <a:p>
            <a:pPr indent="-336550" lvl="1" marL="914400" rtl="0" algn="l">
              <a:lnSpc>
                <a:spcPct val="115000"/>
              </a:lnSpc>
              <a:spcBef>
                <a:spcPts val="1200"/>
              </a:spcBef>
              <a:spcAft>
                <a:spcPts val="0"/>
              </a:spcAft>
              <a:buClr>
                <a:srgbClr val="000000"/>
              </a:buClr>
              <a:buSzPts val="1700"/>
              <a:buChar char="○"/>
            </a:pPr>
            <a:r>
              <a:rPr b="0" lang="en" sz="1700">
                <a:solidFill>
                  <a:srgbClr val="000000"/>
                </a:solidFill>
              </a:rPr>
              <a:t>The near-linear relationship between Model Score and Mean Target indicates that higher model scores are strongly correlated with higher probabilities of the positive class (fraud). This suggests the neural network is effectively distinguishing between fraud and non-fraud cases.</a:t>
            </a:r>
            <a:endParaRPr sz="3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5"/>
          <p:cNvSpPr txBox="1"/>
          <p:nvPr>
            <p:ph type="title"/>
          </p:nvPr>
        </p:nvSpPr>
        <p:spPr>
          <a:xfrm>
            <a:off x="1619250" y="332959"/>
            <a:ext cx="7345500" cy="381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
              <a:t>SAS Model - Decision Tree</a:t>
            </a:r>
            <a:endParaRPr/>
          </a:p>
        </p:txBody>
      </p:sp>
      <p:sp>
        <p:nvSpPr>
          <p:cNvPr id="89" name="Google Shape;89;p15"/>
          <p:cNvSpPr txBox="1"/>
          <p:nvPr>
            <p:ph idx="1" type="body"/>
          </p:nvPr>
        </p:nvSpPr>
        <p:spPr>
          <a:xfrm>
            <a:off x="1619250" y="1168003"/>
            <a:ext cx="7345500" cy="3833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90" name="Google Shape;90;p15"/>
          <p:cNvPicPr preferRelativeResize="0"/>
          <p:nvPr/>
        </p:nvPicPr>
        <p:blipFill>
          <a:blip r:embed="rId3">
            <a:alphaModFix/>
          </a:blip>
          <a:stretch>
            <a:fillRect/>
          </a:stretch>
        </p:blipFill>
        <p:spPr>
          <a:xfrm>
            <a:off x="0" y="826725"/>
            <a:ext cx="9144000" cy="43437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txBox="1"/>
          <p:nvPr>
            <p:ph type="title"/>
          </p:nvPr>
        </p:nvSpPr>
        <p:spPr>
          <a:xfrm>
            <a:off x="1619250" y="732234"/>
            <a:ext cx="7345500" cy="381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
              <a:t>Decision Tree - Analysis</a:t>
            </a:r>
            <a:endParaRPr/>
          </a:p>
        </p:txBody>
      </p:sp>
      <p:sp>
        <p:nvSpPr>
          <p:cNvPr id="96" name="Google Shape;96;p16"/>
          <p:cNvSpPr txBox="1"/>
          <p:nvPr>
            <p:ph idx="1" type="body"/>
          </p:nvPr>
        </p:nvSpPr>
        <p:spPr>
          <a:xfrm>
            <a:off x="106550" y="1168000"/>
            <a:ext cx="8858100" cy="38337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 sz="1800">
                <a:solidFill>
                  <a:srgbClr val="000000"/>
                </a:solidFill>
              </a:rPr>
              <a:t>Diagram Comparison and Model Description</a:t>
            </a:r>
            <a:endParaRPr b="1" sz="1800">
              <a:solidFill>
                <a:srgbClr val="000000"/>
              </a:solidFill>
            </a:endParaRPr>
          </a:p>
          <a:p>
            <a:pPr indent="0" lvl="0" marL="0" rtl="0" algn="l">
              <a:lnSpc>
                <a:spcPct val="115000"/>
              </a:lnSpc>
              <a:spcBef>
                <a:spcPts val="1200"/>
              </a:spcBef>
              <a:spcAft>
                <a:spcPts val="0"/>
              </a:spcAft>
              <a:buNone/>
            </a:pPr>
            <a:r>
              <a:rPr lang="en" sz="1300">
                <a:solidFill>
                  <a:srgbClr val="000000"/>
                </a:solidFill>
              </a:rPr>
              <a:t>Our group decided to </a:t>
            </a:r>
            <a:r>
              <a:rPr lang="en" sz="1300">
                <a:solidFill>
                  <a:srgbClr val="000000"/>
                </a:solidFill>
              </a:rPr>
              <a:t>compare</a:t>
            </a:r>
            <a:r>
              <a:rPr lang="en" sz="1300">
                <a:solidFill>
                  <a:srgbClr val="000000"/>
                </a:solidFill>
              </a:rPr>
              <a:t> four models under the Decision Tree</a:t>
            </a:r>
            <a:r>
              <a:rPr lang="en" sz="1300">
                <a:solidFill>
                  <a:srgbClr val="000000"/>
                </a:solidFill>
              </a:rPr>
              <a:t>:</a:t>
            </a:r>
            <a:endParaRPr sz="1300">
              <a:solidFill>
                <a:srgbClr val="000000"/>
              </a:solidFill>
            </a:endParaRPr>
          </a:p>
          <a:p>
            <a:pPr indent="-311150" lvl="2" marL="1371600" rtl="0" algn="l">
              <a:lnSpc>
                <a:spcPct val="115000"/>
              </a:lnSpc>
              <a:spcBef>
                <a:spcPts val="1200"/>
              </a:spcBef>
              <a:spcAft>
                <a:spcPts val="0"/>
              </a:spcAft>
              <a:buClr>
                <a:srgbClr val="000000"/>
              </a:buClr>
              <a:buSzPts val="1300"/>
              <a:buChar char="■"/>
            </a:pPr>
            <a:r>
              <a:rPr b="1" lang="en" sz="1300">
                <a:solidFill>
                  <a:srgbClr val="000000"/>
                </a:solidFill>
              </a:rPr>
              <a:t>HP Forest Boost:</a:t>
            </a:r>
            <a:r>
              <a:rPr lang="en" sz="1300">
                <a:solidFill>
                  <a:srgbClr val="000000"/>
                </a:solidFill>
              </a:rPr>
              <a:t> A high-performance boosting model.</a:t>
            </a:r>
            <a:endParaRPr sz="1300">
              <a:solidFill>
                <a:srgbClr val="000000"/>
              </a:solidFill>
            </a:endParaRPr>
          </a:p>
          <a:p>
            <a:pPr indent="-311150" lvl="2" marL="1371600" rtl="0" algn="l">
              <a:lnSpc>
                <a:spcPct val="115000"/>
              </a:lnSpc>
              <a:spcBef>
                <a:spcPts val="0"/>
              </a:spcBef>
              <a:spcAft>
                <a:spcPts val="0"/>
              </a:spcAft>
              <a:buClr>
                <a:srgbClr val="000000"/>
              </a:buClr>
              <a:buSzPts val="1300"/>
              <a:buChar char="■"/>
            </a:pPr>
            <a:r>
              <a:rPr b="1" lang="en" sz="1300">
                <a:solidFill>
                  <a:srgbClr val="000000"/>
                </a:solidFill>
              </a:rPr>
              <a:t>Gradient Boosting:</a:t>
            </a:r>
            <a:r>
              <a:rPr lang="en" sz="1300">
                <a:solidFill>
                  <a:srgbClr val="000000"/>
                </a:solidFill>
              </a:rPr>
              <a:t> a method that builds models one after another, with each new model fixing the mistakes of the previous one. It reduces errors by using simple models (like decision trees) to focus on the remaining mistakes. </a:t>
            </a:r>
            <a:endParaRPr sz="1300">
              <a:solidFill>
                <a:srgbClr val="000000"/>
              </a:solidFill>
            </a:endParaRPr>
          </a:p>
          <a:p>
            <a:pPr indent="-311150" lvl="2" marL="1371600" rtl="0" algn="l">
              <a:lnSpc>
                <a:spcPct val="115000"/>
              </a:lnSpc>
              <a:spcBef>
                <a:spcPts val="0"/>
              </a:spcBef>
              <a:spcAft>
                <a:spcPts val="0"/>
              </a:spcAft>
              <a:buClr>
                <a:srgbClr val="000000"/>
              </a:buClr>
              <a:buSzPts val="1300"/>
              <a:buChar char="■"/>
            </a:pPr>
            <a:r>
              <a:rPr b="1" lang="en" sz="1300">
                <a:solidFill>
                  <a:srgbClr val="000000"/>
                </a:solidFill>
              </a:rPr>
              <a:t>Decision Tree:</a:t>
            </a:r>
            <a:r>
              <a:rPr lang="en" sz="1300">
                <a:solidFill>
                  <a:srgbClr val="000000"/>
                </a:solidFill>
              </a:rPr>
              <a:t> Decision Tree with 4 branches and depth 12.</a:t>
            </a:r>
            <a:endParaRPr sz="1300">
              <a:solidFill>
                <a:srgbClr val="000000"/>
              </a:solidFill>
            </a:endParaRPr>
          </a:p>
          <a:p>
            <a:pPr indent="-311150" lvl="2" marL="1371600" rtl="0" algn="l">
              <a:lnSpc>
                <a:spcPct val="115000"/>
              </a:lnSpc>
              <a:spcBef>
                <a:spcPts val="0"/>
              </a:spcBef>
              <a:spcAft>
                <a:spcPts val="0"/>
              </a:spcAft>
              <a:buClr>
                <a:srgbClr val="000000"/>
              </a:buClr>
              <a:buSzPts val="1300"/>
              <a:buChar char="■"/>
            </a:pPr>
            <a:r>
              <a:rPr b="1" lang="en" sz="1300">
                <a:solidFill>
                  <a:srgbClr val="000000"/>
                </a:solidFill>
              </a:rPr>
              <a:t>Decision Tree2:</a:t>
            </a:r>
            <a:r>
              <a:rPr lang="en" sz="1300">
                <a:solidFill>
                  <a:srgbClr val="000000"/>
                </a:solidFill>
              </a:rPr>
              <a:t> Decision Tree with 2 branches and depth 6.</a:t>
            </a:r>
            <a:endParaRPr sz="1300">
              <a:solidFill>
                <a:srgbClr val="000000"/>
              </a:solidFill>
            </a:endParaRPr>
          </a:p>
          <a:p>
            <a:pPr indent="0" lvl="0" marL="0" rtl="0" algn="l">
              <a:lnSpc>
                <a:spcPct val="115000"/>
              </a:lnSpc>
              <a:spcBef>
                <a:spcPts val="1200"/>
              </a:spcBef>
              <a:spcAft>
                <a:spcPts val="0"/>
              </a:spcAft>
              <a:buNone/>
            </a:pPr>
            <a:r>
              <a:rPr b="1" lang="en" sz="1800">
                <a:solidFill>
                  <a:srgbClr val="000000"/>
                </a:solidFill>
              </a:rPr>
              <a:t>Best Model Selection:</a:t>
            </a:r>
            <a:endParaRPr b="1" sz="1800">
              <a:solidFill>
                <a:srgbClr val="000000"/>
              </a:solidFill>
            </a:endParaRPr>
          </a:p>
          <a:p>
            <a:pPr indent="-311150" lvl="1" marL="914400" rtl="0" algn="l">
              <a:lnSpc>
                <a:spcPct val="115000"/>
              </a:lnSpc>
              <a:spcBef>
                <a:spcPts val="1200"/>
              </a:spcBef>
              <a:spcAft>
                <a:spcPts val="0"/>
              </a:spcAft>
              <a:buClr>
                <a:srgbClr val="000000"/>
              </a:buClr>
              <a:buSzPts val="1300"/>
              <a:buChar char="➢"/>
            </a:pPr>
            <a:r>
              <a:rPr b="0" lang="en" sz="1300">
                <a:solidFill>
                  <a:srgbClr val="000000"/>
                </a:solidFill>
              </a:rPr>
              <a:t>The </a:t>
            </a:r>
            <a:r>
              <a:rPr lang="en" sz="1300">
                <a:solidFill>
                  <a:srgbClr val="000000"/>
                </a:solidFill>
              </a:rPr>
              <a:t>Tree model (4 Branch, 12 Deep)</a:t>
            </a:r>
            <a:r>
              <a:rPr b="0" lang="en" sz="1300">
                <a:solidFill>
                  <a:srgbClr val="000000"/>
                </a:solidFill>
              </a:rPr>
              <a:t> has the lowest validation misclassification rate (0.00008) and average squared error (0.000074988), making it the best-performing model for normalization.</a:t>
            </a:r>
            <a:endParaRPr b="0" sz="1300">
              <a:solidFill>
                <a:srgbClr val="000000"/>
              </a:solidFill>
            </a:endParaRPr>
          </a:p>
          <a:p>
            <a:pPr indent="0" lvl="0" marL="0" rtl="0" algn="l">
              <a:spcBef>
                <a:spcPts val="12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txBox="1"/>
          <p:nvPr>
            <p:ph type="title"/>
          </p:nvPr>
        </p:nvSpPr>
        <p:spPr>
          <a:xfrm>
            <a:off x="0" y="391675"/>
            <a:ext cx="8964900" cy="381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
              <a:t>SAS Model - Logistic Regression</a:t>
            </a:r>
            <a:endParaRPr/>
          </a:p>
        </p:txBody>
      </p:sp>
      <p:sp>
        <p:nvSpPr>
          <p:cNvPr id="102" name="Google Shape;102;p17"/>
          <p:cNvSpPr txBox="1"/>
          <p:nvPr>
            <p:ph idx="1" type="body"/>
          </p:nvPr>
        </p:nvSpPr>
        <p:spPr>
          <a:xfrm>
            <a:off x="1619250" y="1168003"/>
            <a:ext cx="7345500" cy="3833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pic>
        <p:nvPicPr>
          <p:cNvPr id="103" name="Google Shape;103;p17"/>
          <p:cNvPicPr preferRelativeResize="0"/>
          <p:nvPr/>
        </p:nvPicPr>
        <p:blipFill>
          <a:blip r:embed="rId3">
            <a:alphaModFix/>
          </a:blip>
          <a:stretch>
            <a:fillRect/>
          </a:stretch>
        </p:blipFill>
        <p:spPr>
          <a:xfrm>
            <a:off x="0" y="919250"/>
            <a:ext cx="9144000" cy="44204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txBox="1"/>
          <p:nvPr>
            <p:ph type="title"/>
          </p:nvPr>
        </p:nvSpPr>
        <p:spPr>
          <a:xfrm>
            <a:off x="1619250" y="732234"/>
            <a:ext cx="7345500" cy="381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
              <a:t>Logistic Regression - Analysis</a:t>
            </a:r>
            <a:endParaRPr/>
          </a:p>
        </p:txBody>
      </p:sp>
      <p:sp>
        <p:nvSpPr>
          <p:cNvPr id="109" name="Google Shape;109;p18"/>
          <p:cNvSpPr txBox="1"/>
          <p:nvPr>
            <p:ph idx="1" type="body"/>
          </p:nvPr>
        </p:nvSpPr>
        <p:spPr>
          <a:xfrm>
            <a:off x="106550" y="1168000"/>
            <a:ext cx="8858100" cy="38337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 sz="1800">
                <a:solidFill>
                  <a:srgbClr val="000000"/>
                </a:solidFill>
              </a:rPr>
              <a:t>Diagram Comparison and Model Description</a:t>
            </a:r>
            <a:endParaRPr b="1" sz="1800">
              <a:solidFill>
                <a:srgbClr val="000000"/>
              </a:solidFill>
            </a:endParaRPr>
          </a:p>
          <a:p>
            <a:pPr indent="0" lvl="0" marL="0" rtl="0" algn="l">
              <a:lnSpc>
                <a:spcPct val="115000"/>
              </a:lnSpc>
              <a:spcBef>
                <a:spcPts val="1200"/>
              </a:spcBef>
              <a:spcAft>
                <a:spcPts val="0"/>
              </a:spcAft>
              <a:buNone/>
            </a:pPr>
            <a:r>
              <a:rPr lang="en" sz="1300">
                <a:solidFill>
                  <a:srgbClr val="000000"/>
                </a:solidFill>
              </a:rPr>
              <a:t>Our group decided to compare different models under the Decision Tree:</a:t>
            </a:r>
            <a:endParaRPr sz="1300">
              <a:solidFill>
                <a:srgbClr val="000000"/>
              </a:solidFill>
            </a:endParaRPr>
          </a:p>
          <a:p>
            <a:pPr indent="-311150" lvl="2" marL="1371600" marR="0" rtl="0" algn="l">
              <a:lnSpc>
                <a:spcPct val="115000"/>
              </a:lnSpc>
              <a:spcBef>
                <a:spcPts val="1200"/>
              </a:spcBef>
              <a:spcAft>
                <a:spcPts val="0"/>
              </a:spcAft>
              <a:buClr>
                <a:srgbClr val="000000"/>
              </a:buClr>
              <a:buSzPts val="1300"/>
              <a:buChar char="■"/>
            </a:pPr>
            <a:r>
              <a:rPr b="1" lang="en" sz="1300">
                <a:solidFill>
                  <a:srgbClr val="000000"/>
                </a:solidFill>
              </a:rPr>
              <a:t>LR Good_Bad – Stepwise Interactions and Polynomial:</a:t>
            </a:r>
            <a:r>
              <a:rPr lang="en" sz="1300">
                <a:solidFill>
                  <a:srgbClr val="000000"/>
                </a:solidFill>
              </a:rPr>
              <a:t> Includes stepwise-selected interactions and polynomial terms for features.</a:t>
            </a:r>
            <a:endParaRPr sz="1300">
              <a:solidFill>
                <a:srgbClr val="000000"/>
              </a:solidFill>
            </a:endParaRPr>
          </a:p>
          <a:p>
            <a:pPr indent="-311150" lvl="2" marL="1371600" marR="0" rtl="0" algn="l">
              <a:lnSpc>
                <a:spcPct val="115000"/>
              </a:lnSpc>
              <a:spcBef>
                <a:spcPts val="0"/>
              </a:spcBef>
              <a:spcAft>
                <a:spcPts val="0"/>
              </a:spcAft>
              <a:buClr>
                <a:srgbClr val="000000"/>
              </a:buClr>
              <a:buSzPts val="1300"/>
              <a:buChar char="■"/>
            </a:pPr>
            <a:r>
              <a:rPr lang="en" sz="1300">
                <a:solidFill>
                  <a:srgbClr val="000000"/>
                </a:solidFill>
              </a:rPr>
              <a:t>LR Fraud_NoFraud: Logistic regression for binary fraud prediction.</a:t>
            </a:r>
            <a:endParaRPr sz="1300">
              <a:solidFill>
                <a:srgbClr val="000000"/>
              </a:solidFill>
            </a:endParaRPr>
          </a:p>
          <a:p>
            <a:pPr indent="-311150" lvl="2" marL="1371600" marR="0" rtl="0" algn="l">
              <a:lnSpc>
                <a:spcPct val="115000"/>
              </a:lnSpc>
              <a:spcBef>
                <a:spcPts val="0"/>
              </a:spcBef>
              <a:spcAft>
                <a:spcPts val="0"/>
              </a:spcAft>
              <a:buClr>
                <a:srgbClr val="000000"/>
              </a:buClr>
              <a:buSzPts val="1300"/>
              <a:buChar char="■"/>
            </a:pPr>
            <a:r>
              <a:rPr lang="en" sz="1300">
                <a:solidFill>
                  <a:srgbClr val="000000"/>
                </a:solidFill>
              </a:rPr>
              <a:t>LR Good_Bad – Interval Inputs.</a:t>
            </a:r>
            <a:endParaRPr sz="1300">
              <a:solidFill>
                <a:srgbClr val="000000"/>
              </a:solidFill>
            </a:endParaRPr>
          </a:p>
          <a:p>
            <a:pPr indent="-311150" lvl="2" marL="1371600" marR="0" rtl="0" algn="l">
              <a:lnSpc>
                <a:spcPct val="115000"/>
              </a:lnSpc>
              <a:spcBef>
                <a:spcPts val="0"/>
              </a:spcBef>
              <a:spcAft>
                <a:spcPts val="0"/>
              </a:spcAft>
              <a:buClr>
                <a:srgbClr val="000000"/>
              </a:buClr>
              <a:buSzPts val="1300"/>
              <a:buChar char="■"/>
            </a:pPr>
            <a:r>
              <a:rPr lang="en" sz="1300">
                <a:solidFill>
                  <a:srgbClr val="000000"/>
                </a:solidFill>
              </a:rPr>
              <a:t>LR Good_Bad – Stepwise: Logistic regression with stepwise feature selection.</a:t>
            </a:r>
            <a:endParaRPr sz="1300">
              <a:solidFill>
                <a:srgbClr val="000000"/>
              </a:solidFill>
            </a:endParaRPr>
          </a:p>
          <a:p>
            <a:pPr indent="0" lvl="0" marL="0" rtl="0" algn="l">
              <a:lnSpc>
                <a:spcPct val="115000"/>
              </a:lnSpc>
              <a:spcBef>
                <a:spcPts val="1200"/>
              </a:spcBef>
              <a:spcAft>
                <a:spcPts val="0"/>
              </a:spcAft>
              <a:buNone/>
            </a:pPr>
            <a:r>
              <a:rPr b="1" lang="en" sz="1800">
                <a:solidFill>
                  <a:srgbClr val="000000"/>
                </a:solidFill>
              </a:rPr>
              <a:t>Best Model Selection:</a:t>
            </a:r>
            <a:endParaRPr sz="1800">
              <a:solidFill>
                <a:srgbClr val="000000"/>
              </a:solidFill>
            </a:endParaRPr>
          </a:p>
          <a:p>
            <a:pPr indent="-304800" lvl="1" marL="914400" rtl="0" algn="l">
              <a:lnSpc>
                <a:spcPct val="115000"/>
              </a:lnSpc>
              <a:spcBef>
                <a:spcPts val="1200"/>
              </a:spcBef>
              <a:spcAft>
                <a:spcPts val="1200"/>
              </a:spcAft>
              <a:buClr>
                <a:srgbClr val="000000"/>
              </a:buClr>
              <a:buSzPts val="1200"/>
              <a:buChar char="➢"/>
            </a:pPr>
            <a:r>
              <a:rPr b="0" lang="en" sz="1200">
                <a:solidFill>
                  <a:srgbClr val="000000"/>
                </a:solidFill>
              </a:rPr>
              <a:t>The </a:t>
            </a:r>
            <a:r>
              <a:rPr lang="en" sz="1200">
                <a:solidFill>
                  <a:srgbClr val="000000"/>
                </a:solidFill>
              </a:rPr>
              <a:t>LR Good_Bad – Stepwise Interactions and Polynomial</a:t>
            </a:r>
            <a:r>
              <a:rPr b="0" lang="en" sz="1200">
                <a:solidFill>
                  <a:srgbClr val="000000"/>
                </a:solidFill>
              </a:rPr>
              <a:t> model has the lowest Average Squared Error (ASE) (0.040483), making it the best-performing model.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type="title"/>
          </p:nvPr>
        </p:nvSpPr>
        <p:spPr>
          <a:xfrm>
            <a:off x="1619250" y="732234"/>
            <a:ext cx="7345500" cy="381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
              <a:t>Recommendation</a:t>
            </a:r>
            <a:endParaRPr/>
          </a:p>
        </p:txBody>
      </p:sp>
      <p:sp>
        <p:nvSpPr>
          <p:cNvPr id="115" name="Google Shape;115;p19"/>
          <p:cNvSpPr txBox="1"/>
          <p:nvPr>
            <p:ph idx="1" type="body"/>
          </p:nvPr>
        </p:nvSpPr>
        <p:spPr>
          <a:xfrm>
            <a:off x="85500" y="1015600"/>
            <a:ext cx="8879100" cy="3833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sz="1200">
              <a:solidFill>
                <a:srgbClr val="000000"/>
              </a:solidFill>
            </a:endParaRPr>
          </a:p>
          <a:p>
            <a:pPr indent="0" lvl="0" marL="0" rtl="0" algn="l">
              <a:spcBef>
                <a:spcPts val="360"/>
              </a:spcBef>
              <a:spcAft>
                <a:spcPts val="0"/>
              </a:spcAft>
              <a:buNone/>
            </a:pPr>
            <a:r>
              <a:rPr lang="en" sz="1400">
                <a:solidFill>
                  <a:srgbClr val="000000"/>
                </a:solidFill>
              </a:rPr>
              <a:t>To avoid credit card fraudulent activity online, we recommend you to incorporate best practices like setting up transaction limits, finding credit card fraud education, and even adding multi-factor authentication.</a:t>
            </a:r>
            <a:endParaRPr sz="1400">
              <a:solidFill>
                <a:srgbClr val="000000"/>
              </a:solidFill>
            </a:endParaRPr>
          </a:p>
          <a:p>
            <a:pPr indent="-317500" lvl="0" marL="914400" rtl="0" algn="l">
              <a:lnSpc>
                <a:spcPct val="115000"/>
              </a:lnSpc>
              <a:spcBef>
                <a:spcPts val="1200"/>
              </a:spcBef>
              <a:spcAft>
                <a:spcPts val="0"/>
              </a:spcAft>
              <a:buClr>
                <a:srgbClr val="000000"/>
              </a:buClr>
              <a:buSzPts val="1400"/>
              <a:buChar char="●"/>
            </a:pPr>
            <a:r>
              <a:rPr lang="en" sz="1400">
                <a:solidFill>
                  <a:srgbClr val="000000"/>
                </a:solidFill>
                <a:highlight>
                  <a:srgbClr val="FFFFFF"/>
                </a:highlight>
              </a:rPr>
              <a:t>Transaction limits: </a:t>
            </a:r>
            <a:endParaRPr sz="1400">
              <a:solidFill>
                <a:srgbClr val="000000"/>
              </a:solidFill>
              <a:highlight>
                <a:srgbClr val="FFFFFF"/>
              </a:highlight>
            </a:endParaRPr>
          </a:p>
          <a:p>
            <a:pPr indent="-317500" lvl="1" marL="1828800" rtl="0" algn="l">
              <a:lnSpc>
                <a:spcPct val="115000"/>
              </a:lnSpc>
              <a:spcBef>
                <a:spcPts val="0"/>
              </a:spcBef>
              <a:spcAft>
                <a:spcPts val="0"/>
              </a:spcAft>
              <a:buClr>
                <a:srgbClr val="000000"/>
              </a:buClr>
              <a:buSzPts val="1400"/>
              <a:buChar char="○"/>
            </a:pPr>
            <a:r>
              <a:rPr b="0" lang="en" sz="1400">
                <a:solidFill>
                  <a:srgbClr val="000000"/>
                </a:solidFill>
                <a:highlight>
                  <a:srgbClr val="FFFFFF"/>
                </a:highlight>
              </a:rPr>
              <a:t>Set limits on transaction sizes or frequency within a certain period to reduce the potential for large-scale fraud.</a:t>
            </a:r>
            <a:endParaRPr sz="1400">
              <a:solidFill>
                <a:srgbClr val="000000"/>
              </a:solidFill>
            </a:endParaRPr>
          </a:p>
          <a:p>
            <a:pPr indent="-317500" lvl="0" marL="914400" rtl="0" algn="l">
              <a:lnSpc>
                <a:spcPct val="115000"/>
              </a:lnSpc>
              <a:spcBef>
                <a:spcPts val="0"/>
              </a:spcBef>
              <a:spcAft>
                <a:spcPts val="0"/>
              </a:spcAft>
              <a:buClr>
                <a:srgbClr val="000000"/>
              </a:buClr>
              <a:buSzPts val="1400"/>
              <a:buChar char="●"/>
            </a:pPr>
            <a:r>
              <a:rPr lang="en" sz="1400">
                <a:solidFill>
                  <a:srgbClr val="000000"/>
                </a:solidFill>
              </a:rPr>
              <a:t>Implement Multi-Factor Authentication (MFA)</a:t>
            </a:r>
            <a:endParaRPr sz="1400">
              <a:solidFill>
                <a:srgbClr val="000000"/>
              </a:solidFill>
            </a:endParaRPr>
          </a:p>
          <a:p>
            <a:pPr indent="-317500" lvl="1" marL="1828800" rtl="0" algn="l">
              <a:lnSpc>
                <a:spcPct val="115000"/>
              </a:lnSpc>
              <a:spcBef>
                <a:spcPts val="0"/>
              </a:spcBef>
              <a:spcAft>
                <a:spcPts val="0"/>
              </a:spcAft>
              <a:buClr>
                <a:srgbClr val="000000"/>
              </a:buClr>
              <a:buSzPts val="1400"/>
              <a:buChar char="○"/>
            </a:pPr>
            <a:r>
              <a:rPr b="0" lang="en" sz="1400">
                <a:solidFill>
                  <a:srgbClr val="000000"/>
                </a:solidFill>
              </a:rPr>
              <a:t>Enhancing security through MFA requires users to provide multiple forms of verification before completing a transaction. This approach significantly reduces the risk of unauthorized access, as it combines something the user knows (e.g., password) with something the user has (e.g., a mobile device) or something the user is (e.g., biometric data). </a:t>
            </a:r>
            <a:endParaRPr b="0" sz="1400">
              <a:solidFill>
                <a:srgbClr val="000000"/>
              </a:solidFill>
            </a:endParaRPr>
          </a:p>
          <a:p>
            <a:pPr indent="-317500" lvl="0" marL="914400" rtl="0" algn="l">
              <a:lnSpc>
                <a:spcPct val="115000"/>
              </a:lnSpc>
              <a:spcBef>
                <a:spcPts val="0"/>
              </a:spcBef>
              <a:spcAft>
                <a:spcPts val="0"/>
              </a:spcAft>
              <a:buClr>
                <a:srgbClr val="000000"/>
              </a:buClr>
              <a:buSzPts val="1400"/>
              <a:buChar char="●"/>
            </a:pPr>
            <a:r>
              <a:rPr lang="en" sz="1400">
                <a:solidFill>
                  <a:srgbClr val="000000"/>
                </a:solidFill>
              </a:rPr>
              <a:t>Educational Credit Card Preventions</a:t>
            </a:r>
            <a:endParaRPr sz="1400">
              <a:solidFill>
                <a:srgbClr val="000000"/>
              </a:solidFill>
            </a:endParaRPr>
          </a:p>
          <a:p>
            <a:pPr indent="-317500" lvl="1" marL="1828800" rtl="0" algn="l">
              <a:lnSpc>
                <a:spcPct val="115000"/>
              </a:lnSpc>
              <a:spcBef>
                <a:spcPts val="0"/>
              </a:spcBef>
              <a:spcAft>
                <a:spcPts val="0"/>
              </a:spcAft>
              <a:buClr>
                <a:srgbClr val="000000"/>
              </a:buClr>
              <a:buSzPts val="1400"/>
              <a:buChar char="○"/>
            </a:pPr>
            <a:r>
              <a:rPr b="0" lang="en" sz="1400">
                <a:solidFill>
                  <a:srgbClr val="000000"/>
                </a:solidFill>
              </a:rPr>
              <a:t>Learn about safe transaction practices, such as recognizing phishing attempts and safeguarding your personal information, this can empower you to act as the first line of defense against fraud.</a:t>
            </a:r>
            <a:endParaRPr b="0" sz="1400">
              <a:solidFill>
                <a:srgbClr val="000000"/>
              </a:solidFill>
            </a:endParaRPr>
          </a:p>
          <a:p>
            <a:pPr indent="0" lvl="0" marL="457200" rtl="0" algn="l">
              <a:lnSpc>
                <a:spcPct val="115000"/>
              </a:lnSpc>
              <a:spcBef>
                <a:spcPts val="1200"/>
              </a:spcBef>
              <a:spcAft>
                <a:spcPts val="0"/>
              </a:spcAft>
              <a:buNone/>
            </a:pPr>
            <a:r>
              <a:t/>
            </a:r>
            <a:endParaRPr sz="1200">
              <a:solidFill>
                <a:srgbClr val="000000"/>
              </a:solidFill>
            </a:endParaRPr>
          </a:p>
          <a:p>
            <a:pPr indent="0" lvl="0" marL="457200" rtl="0" algn="l">
              <a:lnSpc>
                <a:spcPct val="115000"/>
              </a:lnSpc>
              <a:spcBef>
                <a:spcPts val="1500"/>
              </a:spcBef>
              <a:spcAft>
                <a:spcPts val="1200"/>
              </a:spcAft>
              <a:buNone/>
            </a:pPr>
            <a:r>
              <a:t/>
            </a:r>
            <a:endParaRPr sz="1200">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1619250" y="732234"/>
            <a:ext cx="7345500" cy="381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
              <a:t>Conclusion</a:t>
            </a:r>
            <a:endParaRPr/>
          </a:p>
        </p:txBody>
      </p:sp>
      <p:sp>
        <p:nvSpPr>
          <p:cNvPr id="121" name="Google Shape;121;p20"/>
          <p:cNvSpPr txBox="1"/>
          <p:nvPr>
            <p:ph idx="1" type="body"/>
          </p:nvPr>
        </p:nvSpPr>
        <p:spPr>
          <a:xfrm>
            <a:off x="224650" y="1168000"/>
            <a:ext cx="8740200" cy="3833700"/>
          </a:xfrm>
          <a:prstGeom prst="rect">
            <a:avLst/>
          </a:prstGeom>
        </p:spPr>
        <p:txBody>
          <a:bodyPr anchorCtr="0" anchor="t" bIns="45700" lIns="91425" spcFirstLastPara="1" rIns="91425" wrap="square" tIns="45700">
            <a:noAutofit/>
          </a:bodyPr>
          <a:lstStyle/>
          <a:p>
            <a:pPr indent="-342900" lvl="0" marL="457200" rtl="0" algn="l">
              <a:spcBef>
                <a:spcPts val="360"/>
              </a:spcBef>
              <a:spcAft>
                <a:spcPts val="0"/>
              </a:spcAft>
              <a:buClr>
                <a:srgbClr val="000000"/>
              </a:buClr>
              <a:buSzPts val="1800"/>
              <a:buChar char="●"/>
            </a:pPr>
            <a:r>
              <a:rPr lang="en">
                <a:solidFill>
                  <a:srgbClr val="000000"/>
                </a:solidFill>
              </a:rPr>
              <a:t>We were able to determine that the higher the online transaction away from home. The more likely the transaction was fraudulent.</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Also, online transactions tend to be more fraudulent than a transaction where we utilized the chip in store.</a:t>
            </a:r>
            <a:endParaRPr>
              <a:solidFill>
                <a:srgbClr val="000000"/>
              </a:solidFill>
            </a:endParaRPr>
          </a:p>
          <a:p>
            <a:pPr indent="0" lvl="0" marL="0" rtl="0" algn="l">
              <a:spcBef>
                <a:spcPts val="360"/>
              </a:spcBef>
              <a:spcAft>
                <a:spcPts val="0"/>
              </a:spcAft>
              <a:buNone/>
            </a:pPr>
            <a:r>
              <a:t/>
            </a:r>
            <a:endParaRPr>
              <a:solidFill>
                <a:srgbClr val="000000"/>
              </a:solidFill>
            </a:endParaRPr>
          </a:p>
          <a:p>
            <a:pPr indent="0" lvl="0" marL="0" rtl="0" algn="l">
              <a:spcBef>
                <a:spcPts val="360"/>
              </a:spcBef>
              <a:spcAft>
                <a:spcPts val="0"/>
              </a:spcAft>
              <a:buNone/>
            </a:pPr>
            <a:r>
              <a:rPr lang="en">
                <a:solidFill>
                  <a:srgbClr val="000000"/>
                </a:solidFill>
              </a:rPr>
              <a:t>Therefore, safeguard your credit card information and educate yourself on ways to fight against FRAUD!</a:t>
            </a:r>
            <a:endParaRPr>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1619250" y="732234"/>
            <a:ext cx="7345500" cy="3810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r>
              <a:rPr lang="en"/>
              <a:t>References</a:t>
            </a:r>
            <a:endParaRPr/>
          </a:p>
        </p:txBody>
      </p:sp>
      <p:sp>
        <p:nvSpPr>
          <p:cNvPr id="127" name="Google Shape;127;p21"/>
          <p:cNvSpPr txBox="1"/>
          <p:nvPr>
            <p:ph idx="1" type="body"/>
          </p:nvPr>
        </p:nvSpPr>
        <p:spPr>
          <a:xfrm>
            <a:off x="82500" y="2571750"/>
            <a:ext cx="8882400" cy="24300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
              <a:t>https://www.kaggle.com/datasets/dhanushnarayananr/credit-card-fraud/data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plate">
  <a:themeElements>
    <a:clrScheme name="default">
      <a:dk1>
        <a:srgbClr val="4D4D4D"/>
      </a:dk1>
      <a:lt1>
        <a:srgbClr val="FFFFFF"/>
      </a:lt1>
      <a:dk2>
        <a:srgbClr val="FFCC00"/>
      </a:dk2>
      <a:lt2>
        <a:srgbClr val="3366CC"/>
      </a:lt2>
      <a:accent1>
        <a:srgbClr val="6699FF"/>
      </a:accent1>
      <a:accent2>
        <a:srgbClr val="FF9933"/>
      </a:accent2>
      <a:accent3>
        <a:srgbClr val="FFFFFF"/>
      </a:accent3>
      <a:accent4>
        <a:srgbClr val="6699FF"/>
      </a:accent4>
      <a:accent5>
        <a:srgbClr val="FF9933"/>
      </a:accent5>
      <a:accent6>
        <a:srgbClr val="FFFFFF"/>
      </a:accent6>
      <a:hlink>
        <a:srgbClr val="99CCFF"/>
      </a:hlink>
      <a:folHlink>
        <a:srgbClr val="DDDDD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